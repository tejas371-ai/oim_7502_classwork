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6"/>
  </p:notesMasterIdLst>
  <p:sldIdLst>
    <p:sldId id="256" r:id="rId2"/>
    <p:sldId id="260" r:id="rId3"/>
    <p:sldId id="261" r:id="rId4"/>
    <p:sldId id="267" r:id="rId5"/>
    <p:sldId id="263" r:id="rId6"/>
    <p:sldId id="265" r:id="rId7"/>
    <p:sldId id="271" r:id="rId8"/>
    <p:sldId id="268" r:id="rId9"/>
    <p:sldId id="269" r:id="rId10"/>
    <p:sldId id="270" r:id="rId11"/>
    <p:sldId id="272" r:id="rId12"/>
    <p:sldId id="273" r:id="rId13"/>
    <p:sldId id="266"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7330E5-F48A-4698-A3FE-249430BB369D}" type="doc">
      <dgm:prSet loTypeId="urn:microsoft.com/office/officeart/2005/8/layout/process1" loCatId="process" qsTypeId="urn:microsoft.com/office/officeart/2005/8/quickstyle/simple1" qsCatId="simple" csTypeId="urn:microsoft.com/office/officeart/2005/8/colors/accent0_2" csCatId="mainScheme" phldr="1"/>
      <dgm:spPr/>
      <dgm:t>
        <a:bodyPr/>
        <a:lstStyle/>
        <a:p>
          <a:endParaRPr lang="en-US"/>
        </a:p>
      </dgm:t>
    </dgm:pt>
    <dgm:pt modelId="{58AE3C25-702C-4556-BD08-806836D926DB}">
      <dgm:prSet phldrT="[Text]" phldr="0"/>
      <dgm:spPr/>
      <dgm:t>
        <a:bodyPr/>
        <a:lstStyle/>
        <a:p>
          <a:r>
            <a:rPr lang="en-US" dirty="0"/>
            <a:t>Get Data</a:t>
          </a:r>
        </a:p>
      </dgm:t>
    </dgm:pt>
    <dgm:pt modelId="{4A3C0A13-95E2-465D-A2EC-A38699CBB72F}" type="parTrans" cxnId="{087B8FFD-55A7-444B-9D39-A4ECC5F45337}">
      <dgm:prSet/>
      <dgm:spPr/>
      <dgm:t>
        <a:bodyPr/>
        <a:lstStyle/>
        <a:p>
          <a:endParaRPr lang="en-US"/>
        </a:p>
      </dgm:t>
    </dgm:pt>
    <dgm:pt modelId="{A6AF63C9-890F-4792-A379-38F5DCD8DFE4}" type="sibTrans" cxnId="{087B8FFD-55A7-444B-9D39-A4ECC5F45337}">
      <dgm:prSet/>
      <dgm:spPr/>
      <dgm:t>
        <a:bodyPr/>
        <a:lstStyle/>
        <a:p>
          <a:endParaRPr lang="en-US"/>
        </a:p>
      </dgm:t>
    </dgm:pt>
    <dgm:pt modelId="{AD3BBC73-5EDC-4D33-B4F2-2430B6B25660}">
      <dgm:prSet phldrT="[Text]" phldr="0"/>
      <dgm:spPr/>
      <dgm:t>
        <a:bodyPr/>
        <a:lstStyle/>
        <a:p>
          <a:r>
            <a:rPr lang="en-US" dirty="0"/>
            <a:t>Setup</a:t>
          </a:r>
        </a:p>
      </dgm:t>
    </dgm:pt>
    <dgm:pt modelId="{E89482C4-3582-4AC4-85BB-4F357D8F2020}" type="parTrans" cxnId="{06333574-02B0-4359-9BAA-70090482A2DB}">
      <dgm:prSet/>
      <dgm:spPr/>
      <dgm:t>
        <a:bodyPr/>
        <a:lstStyle/>
        <a:p>
          <a:endParaRPr lang="en-US"/>
        </a:p>
      </dgm:t>
    </dgm:pt>
    <dgm:pt modelId="{4CCFF2F4-CCD2-4945-BF6D-F1539D667472}" type="sibTrans" cxnId="{06333574-02B0-4359-9BAA-70090482A2DB}">
      <dgm:prSet/>
      <dgm:spPr/>
      <dgm:t>
        <a:bodyPr/>
        <a:lstStyle/>
        <a:p>
          <a:endParaRPr lang="en-US"/>
        </a:p>
      </dgm:t>
    </dgm:pt>
    <dgm:pt modelId="{ABF74C95-B2B1-40AB-8147-18DDCBB7B3CD}">
      <dgm:prSet phldrT="[Text]" phldr="0"/>
      <dgm:spPr/>
      <dgm:t>
        <a:bodyPr/>
        <a:lstStyle/>
        <a:p>
          <a:r>
            <a:rPr lang="en-US" dirty="0"/>
            <a:t>Compare Model</a:t>
          </a:r>
        </a:p>
      </dgm:t>
    </dgm:pt>
    <dgm:pt modelId="{696A4560-3A57-4603-AC9E-2AD3F5D90D82}" type="parTrans" cxnId="{4E7D9F47-D7AA-47B8-92D2-BA6443D71E4F}">
      <dgm:prSet/>
      <dgm:spPr/>
      <dgm:t>
        <a:bodyPr/>
        <a:lstStyle/>
        <a:p>
          <a:endParaRPr lang="en-US"/>
        </a:p>
      </dgm:t>
    </dgm:pt>
    <dgm:pt modelId="{5A0FF46F-3EA6-4071-ABC7-DBA326CCDE85}" type="sibTrans" cxnId="{4E7D9F47-D7AA-47B8-92D2-BA6443D71E4F}">
      <dgm:prSet/>
      <dgm:spPr/>
      <dgm:t>
        <a:bodyPr/>
        <a:lstStyle/>
        <a:p>
          <a:endParaRPr lang="en-US"/>
        </a:p>
      </dgm:t>
    </dgm:pt>
    <dgm:pt modelId="{A451C3DD-CE22-435A-8B29-8463E055EE6C}">
      <dgm:prSet phldrT="[Text]" phldr="0"/>
      <dgm:spPr/>
      <dgm:t>
        <a:bodyPr/>
        <a:lstStyle/>
        <a:p>
          <a:r>
            <a:rPr lang="en-US" dirty="0"/>
            <a:t>Save Model</a:t>
          </a:r>
        </a:p>
      </dgm:t>
    </dgm:pt>
    <dgm:pt modelId="{097236A7-6E5A-47F3-8CCE-CD58C920D53D}" type="parTrans" cxnId="{3732D932-1087-4E8F-BD8D-0B8A43956D9D}">
      <dgm:prSet/>
      <dgm:spPr/>
      <dgm:t>
        <a:bodyPr/>
        <a:lstStyle/>
        <a:p>
          <a:endParaRPr lang="en-US"/>
        </a:p>
      </dgm:t>
    </dgm:pt>
    <dgm:pt modelId="{90FF761D-72B6-4EDA-9CD8-0A3202BAEEE4}" type="sibTrans" cxnId="{3732D932-1087-4E8F-BD8D-0B8A43956D9D}">
      <dgm:prSet/>
      <dgm:spPr/>
      <dgm:t>
        <a:bodyPr/>
        <a:lstStyle/>
        <a:p>
          <a:endParaRPr lang="en-US"/>
        </a:p>
      </dgm:t>
    </dgm:pt>
    <dgm:pt modelId="{54F19774-6B85-42D2-9439-BF2E5AC73D36}" type="pres">
      <dgm:prSet presAssocID="{B77330E5-F48A-4698-A3FE-249430BB369D}" presName="Name0" presStyleCnt="0">
        <dgm:presLayoutVars>
          <dgm:dir/>
          <dgm:resizeHandles val="exact"/>
        </dgm:presLayoutVars>
      </dgm:prSet>
      <dgm:spPr/>
    </dgm:pt>
    <dgm:pt modelId="{46B52509-C7C4-413D-AFE6-26925768258E}" type="pres">
      <dgm:prSet presAssocID="{58AE3C25-702C-4556-BD08-806836D926DB}" presName="node" presStyleLbl="node1" presStyleIdx="0" presStyleCnt="4" custScaleX="61252">
        <dgm:presLayoutVars>
          <dgm:bulletEnabled val="1"/>
        </dgm:presLayoutVars>
      </dgm:prSet>
      <dgm:spPr/>
    </dgm:pt>
    <dgm:pt modelId="{4757724F-403E-467E-B48E-981E437F9CC4}" type="pres">
      <dgm:prSet presAssocID="{A6AF63C9-890F-4792-A379-38F5DCD8DFE4}" presName="sibTrans" presStyleLbl="sibTrans2D1" presStyleIdx="0" presStyleCnt="3"/>
      <dgm:spPr/>
    </dgm:pt>
    <dgm:pt modelId="{636CAE1A-7E3C-4903-A719-BD43A6730D6E}" type="pres">
      <dgm:prSet presAssocID="{A6AF63C9-890F-4792-A379-38F5DCD8DFE4}" presName="connectorText" presStyleLbl="sibTrans2D1" presStyleIdx="0" presStyleCnt="3"/>
      <dgm:spPr/>
    </dgm:pt>
    <dgm:pt modelId="{77C06FCA-9827-4CC1-91A0-BB84C9F2B2EE}" type="pres">
      <dgm:prSet presAssocID="{AD3BBC73-5EDC-4D33-B4F2-2430B6B25660}" presName="node" presStyleLbl="node1" presStyleIdx="1" presStyleCnt="4" custScaleX="62805">
        <dgm:presLayoutVars>
          <dgm:bulletEnabled val="1"/>
        </dgm:presLayoutVars>
      </dgm:prSet>
      <dgm:spPr/>
    </dgm:pt>
    <dgm:pt modelId="{739EEE5D-1274-471A-9CCD-5727CDC384DA}" type="pres">
      <dgm:prSet presAssocID="{4CCFF2F4-CCD2-4945-BF6D-F1539D667472}" presName="sibTrans" presStyleLbl="sibTrans2D1" presStyleIdx="1" presStyleCnt="3"/>
      <dgm:spPr/>
    </dgm:pt>
    <dgm:pt modelId="{E6074CEC-AE14-4D58-9AA6-72A86CD2DDDB}" type="pres">
      <dgm:prSet presAssocID="{4CCFF2F4-CCD2-4945-BF6D-F1539D667472}" presName="connectorText" presStyleLbl="sibTrans2D1" presStyleIdx="1" presStyleCnt="3"/>
      <dgm:spPr/>
    </dgm:pt>
    <dgm:pt modelId="{2397EF62-8F67-483C-992C-34B79F61056E}" type="pres">
      <dgm:prSet presAssocID="{ABF74C95-B2B1-40AB-8147-18DDCBB7B3CD}" presName="node" presStyleLbl="node1" presStyleIdx="2" presStyleCnt="4" custScaleX="71143">
        <dgm:presLayoutVars>
          <dgm:bulletEnabled val="1"/>
        </dgm:presLayoutVars>
      </dgm:prSet>
      <dgm:spPr/>
    </dgm:pt>
    <dgm:pt modelId="{AE9B1433-4B63-4FC4-A11E-52D8CB89FE49}" type="pres">
      <dgm:prSet presAssocID="{5A0FF46F-3EA6-4071-ABC7-DBA326CCDE85}" presName="sibTrans" presStyleLbl="sibTrans2D1" presStyleIdx="2" presStyleCnt="3"/>
      <dgm:spPr/>
    </dgm:pt>
    <dgm:pt modelId="{A3B20FD0-0CE8-48CA-95F0-DD1B38406785}" type="pres">
      <dgm:prSet presAssocID="{5A0FF46F-3EA6-4071-ABC7-DBA326CCDE85}" presName="connectorText" presStyleLbl="sibTrans2D1" presStyleIdx="2" presStyleCnt="3"/>
      <dgm:spPr/>
    </dgm:pt>
    <dgm:pt modelId="{5B582E07-98EB-4996-9178-2983BCABB95E}" type="pres">
      <dgm:prSet presAssocID="{A451C3DD-CE22-435A-8B29-8463E055EE6C}" presName="node" presStyleLbl="node1" presStyleIdx="3" presStyleCnt="4" custScaleX="72262">
        <dgm:presLayoutVars>
          <dgm:bulletEnabled val="1"/>
        </dgm:presLayoutVars>
      </dgm:prSet>
      <dgm:spPr/>
    </dgm:pt>
  </dgm:ptLst>
  <dgm:cxnLst>
    <dgm:cxn modelId="{E8A93A0B-FDC9-4C9F-8BB9-C1E9A7DF3DC9}" type="presOf" srcId="{B77330E5-F48A-4698-A3FE-249430BB369D}" destId="{54F19774-6B85-42D2-9439-BF2E5AC73D36}" srcOrd="0" destOrd="0" presId="urn:microsoft.com/office/officeart/2005/8/layout/process1"/>
    <dgm:cxn modelId="{9566A915-F49F-4D22-9CC3-8E0EB4A9F49A}" type="presOf" srcId="{AD3BBC73-5EDC-4D33-B4F2-2430B6B25660}" destId="{77C06FCA-9827-4CC1-91A0-BB84C9F2B2EE}" srcOrd="0" destOrd="0" presId="urn:microsoft.com/office/officeart/2005/8/layout/process1"/>
    <dgm:cxn modelId="{933BE518-A502-4C66-956A-BC60E3C7AE37}" type="presOf" srcId="{A6AF63C9-890F-4792-A379-38F5DCD8DFE4}" destId="{4757724F-403E-467E-B48E-981E437F9CC4}" srcOrd="0" destOrd="0" presId="urn:microsoft.com/office/officeart/2005/8/layout/process1"/>
    <dgm:cxn modelId="{3732D932-1087-4E8F-BD8D-0B8A43956D9D}" srcId="{B77330E5-F48A-4698-A3FE-249430BB369D}" destId="{A451C3DD-CE22-435A-8B29-8463E055EE6C}" srcOrd="3" destOrd="0" parTransId="{097236A7-6E5A-47F3-8CCE-CD58C920D53D}" sibTransId="{90FF761D-72B6-4EDA-9CD8-0A3202BAEEE4}"/>
    <dgm:cxn modelId="{1A031B38-190A-4860-87E0-ED3385CC9D64}" type="presOf" srcId="{A451C3DD-CE22-435A-8B29-8463E055EE6C}" destId="{5B582E07-98EB-4996-9178-2983BCABB95E}" srcOrd="0" destOrd="0" presId="urn:microsoft.com/office/officeart/2005/8/layout/process1"/>
    <dgm:cxn modelId="{79F0B33A-9B44-4D2C-9041-D004E78B3B75}" type="presOf" srcId="{4CCFF2F4-CCD2-4945-BF6D-F1539D667472}" destId="{E6074CEC-AE14-4D58-9AA6-72A86CD2DDDB}" srcOrd="1" destOrd="0" presId="urn:microsoft.com/office/officeart/2005/8/layout/process1"/>
    <dgm:cxn modelId="{4E7D9F47-D7AA-47B8-92D2-BA6443D71E4F}" srcId="{B77330E5-F48A-4698-A3FE-249430BB369D}" destId="{ABF74C95-B2B1-40AB-8147-18DDCBB7B3CD}" srcOrd="2" destOrd="0" parTransId="{696A4560-3A57-4603-AC9E-2AD3F5D90D82}" sibTransId="{5A0FF46F-3EA6-4071-ABC7-DBA326CCDE85}"/>
    <dgm:cxn modelId="{A9BB7E69-4D4C-4053-B996-60C2C32DF059}" type="presOf" srcId="{58AE3C25-702C-4556-BD08-806836D926DB}" destId="{46B52509-C7C4-413D-AFE6-26925768258E}" srcOrd="0" destOrd="0" presId="urn:microsoft.com/office/officeart/2005/8/layout/process1"/>
    <dgm:cxn modelId="{06333574-02B0-4359-9BAA-70090482A2DB}" srcId="{B77330E5-F48A-4698-A3FE-249430BB369D}" destId="{AD3BBC73-5EDC-4D33-B4F2-2430B6B25660}" srcOrd="1" destOrd="0" parTransId="{E89482C4-3582-4AC4-85BB-4F357D8F2020}" sibTransId="{4CCFF2F4-CCD2-4945-BF6D-F1539D667472}"/>
    <dgm:cxn modelId="{53AD3B56-0739-4575-BE30-99292DAF2AD1}" type="presOf" srcId="{4CCFF2F4-CCD2-4945-BF6D-F1539D667472}" destId="{739EEE5D-1274-471A-9CCD-5727CDC384DA}" srcOrd="0" destOrd="0" presId="urn:microsoft.com/office/officeart/2005/8/layout/process1"/>
    <dgm:cxn modelId="{97B06758-EE8B-4830-A285-F77071637FA9}" type="presOf" srcId="{5A0FF46F-3EA6-4071-ABC7-DBA326CCDE85}" destId="{AE9B1433-4B63-4FC4-A11E-52D8CB89FE49}" srcOrd="0" destOrd="0" presId="urn:microsoft.com/office/officeart/2005/8/layout/process1"/>
    <dgm:cxn modelId="{4154BA8E-F96F-4DDB-A8EF-A9E302CFB2C9}" type="presOf" srcId="{5A0FF46F-3EA6-4071-ABC7-DBA326CCDE85}" destId="{A3B20FD0-0CE8-48CA-95F0-DD1B38406785}" srcOrd="1" destOrd="0" presId="urn:microsoft.com/office/officeart/2005/8/layout/process1"/>
    <dgm:cxn modelId="{05E099AE-34ED-46D0-81D3-C571FB44A77E}" type="presOf" srcId="{A6AF63C9-890F-4792-A379-38F5DCD8DFE4}" destId="{636CAE1A-7E3C-4903-A719-BD43A6730D6E}" srcOrd="1" destOrd="0" presId="urn:microsoft.com/office/officeart/2005/8/layout/process1"/>
    <dgm:cxn modelId="{36843FD5-F56A-471C-A5E0-7D93C8D991A0}" type="presOf" srcId="{ABF74C95-B2B1-40AB-8147-18DDCBB7B3CD}" destId="{2397EF62-8F67-483C-992C-34B79F61056E}" srcOrd="0" destOrd="0" presId="urn:microsoft.com/office/officeart/2005/8/layout/process1"/>
    <dgm:cxn modelId="{087B8FFD-55A7-444B-9D39-A4ECC5F45337}" srcId="{B77330E5-F48A-4698-A3FE-249430BB369D}" destId="{58AE3C25-702C-4556-BD08-806836D926DB}" srcOrd="0" destOrd="0" parTransId="{4A3C0A13-95E2-465D-A2EC-A38699CBB72F}" sibTransId="{A6AF63C9-890F-4792-A379-38F5DCD8DFE4}"/>
    <dgm:cxn modelId="{F1F637AD-FED8-4E92-820A-252038B50127}" type="presParOf" srcId="{54F19774-6B85-42D2-9439-BF2E5AC73D36}" destId="{46B52509-C7C4-413D-AFE6-26925768258E}" srcOrd="0" destOrd="0" presId="urn:microsoft.com/office/officeart/2005/8/layout/process1"/>
    <dgm:cxn modelId="{C1623BB8-6D43-4423-AB2D-5BCAB0605A24}" type="presParOf" srcId="{54F19774-6B85-42D2-9439-BF2E5AC73D36}" destId="{4757724F-403E-467E-B48E-981E437F9CC4}" srcOrd="1" destOrd="0" presId="urn:microsoft.com/office/officeart/2005/8/layout/process1"/>
    <dgm:cxn modelId="{1B39E19D-0979-4041-B922-CC162131E031}" type="presParOf" srcId="{4757724F-403E-467E-B48E-981E437F9CC4}" destId="{636CAE1A-7E3C-4903-A719-BD43A6730D6E}" srcOrd="0" destOrd="0" presId="urn:microsoft.com/office/officeart/2005/8/layout/process1"/>
    <dgm:cxn modelId="{E69281F1-C62A-4D23-BAE4-8979841C2172}" type="presParOf" srcId="{54F19774-6B85-42D2-9439-BF2E5AC73D36}" destId="{77C06FCA-9827-4CC1-91A0-BB84C9F2B2EE}" srcOrd="2" destOrd="0" presId="urn:microsoft.com/office/officeart/2005/8/layout/process1"/>
    <dgm:cxn modelId="{AA6B0F4F-7964-4C98-9956-AE4876032754}" type="presParOf" srcId="{54F19774-6B85-42D2-9439-BF2E5AC73D36}" destId="{739EEE5D-1274-471A-9CCD-5727CDC384DA}" srcOrd="3" destOrd="0" presId="urn:microsoft.com/office/officeart/2005/8/layout/process1"/>
    <dgm:cxn modelId="{91CD1CAA-40D5-45C4-B3CD-AF94CF85AEB7}" type="presParOf" srcId="{739EEE5D-1274-471A-9CCD-5727CDC384DA}" destId="{E6074CEC-AE14-4D58-9AA6-72A86CD2DDDB}" srcOrd="0" destOrd="0" presId="urn:microsoft.com/office/officeart/2005/8/layout/process1"/>
    <dgm:cxn modelId="{1C752F6D-A7D1-4F19-875A-DF3B6ECB7F65}" type="presParOf" srcId="{54F19774-6B85-42D2-9439-BF2E5AC73D36}" destId="{2397EF62-8F67-483C-992C-34B79F61056E}" srcOrd="4" destOrd="0" presId="urn:microsoft.com/office/officeart/2005/8/layout/process1"/>
    <dgm:cxn modelId="{9B6910B9-6C1C-4E77-AE1D-26EED23A487D}" type="presParOf" srcId="{54F19774-6B85-42D2-9439-BF2E5AC73D36}" destId="{AE9B1433-4B63-4FC4-A11E-52D8CB89FE49}" srcOrd="5" destOrd="0" presId="urn:microsoft.com/office/officeart/2005/8/layout/process1"/>
    <dgm:cxn modelId="{91DFCD2E-21B5-45DB-8B0D-01FFFAB7DD9F}" type="presParOf" srcId="{AE9B1433-4B63-4FC4-A11E-52D8CB89FE49}" destId="{A3B20FD0-0CE8-48CA-95F0-DD1B38406785}" srcOrd="0" destOrd="0" presId="urn:microsoft.com/office/officeart/2005/8/layout/process1"/>
    <dgm:cxn modelId="{4DC45E3F-82D1-4187-A499-7C16C781ACB2}" type="presParOf" srcId="{54F19774-6B85-42D2-9439-BF2E5AC73D36}" destId="{5B582E07-98EB-4996-9178-2983BCABB95E}"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B52509-C7C4-413D-AFE6-26925768258E}">
      <dsp:nvSpPr>
        <dsp:cNvPr id="0" name=""/>
        <dsp:cNvSpPr/>
      </dsp:nvSpPr>
      <dsp:spPr>
        <a:xfrm>
          <a:off x="4779" y="0"/>
          <a:ext cx="1404802" cy="38912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Get Data</a:t>
          </a:r>
        </a:p>
      </dsp:txBody>
      <dsp:txXfrm>
        <a:off x="16176" y="11397"/>
        <a:ext cx="1382008" cy="366331"/>
      </dsp:txXfrm>
    </dsp:sp>
    <dsp:sp modelId="{4757724F-403E-467E-B48E-981E437F9CC4}">
      <dsp:nvSpPr>
        <dsp:cNvPr id="0" name=""/>
        <dsp:cNvSpPr/>
      </dsp:nvSpPr>
      <dsp:spPr>
        <a:xfrm>
          <a:off x="1638930" y="0"/>
          <a:ext cx="486217" cy="38912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638930" y="77825"/>
        <a:ext cx="369480" cy="233475"/>
      </dsp:txXfrm>
    </dsp:sp>
    <dsp:sp modelId="{77C06FCA-9827-4CC1-91A0-BB84C9F2B2EE}">
      <dsp:nvSpPr>
        <dsp:cNvPr id="0" name=""/>
        <dsp:cNvSpPr/>
      </dsp:nvSpPr>
      <dsp:spPr>
        <a:xfrm>
          <a:off x="2326974" y="0"/>
          <a:ext cx="1440420" cy="38912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Setup</a:t>
          </a:r>
        </a:p>
      </dsp:txBody>
      <dsp:txXfrm>
        <a:off x="2338371" y="11397"/>
        <a:ext cx="1417626" cy="366331"/>
      </dsp:txXfrm>
    </dsp:sp>
    <dsp:sp modelId="{739EEE5D-1274-471A-9CCD-5727CDC384DA}">
      <dsp:nvSpPr>
        <dsp:cNvPr id="0" name=""/>
        <dsp:cNvSpPr/>
      </dsp:nvSpPr>
      <dsp:spPr>
        <a:xfrm>
          <a:off x="3996743" y="0"/>
          <a:ext cx="486217" cy="38912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996743" y="77825"/>
        <a:ext cx="369480" cy="233475"/>
      </dsp:txXfrm>
    </dsp:sp>
    <dsp:sp modelId="{2397EF62-8F67-483C-992C-34B79F61056E}">
      <dsp:nvSpPr>
        <dsp:cNvPr id="0" name=""/>
        <dsp:cNvSpPr/>
      </dsp:nvSpPr>
      <dsp:spPr>
        <a:xfrm>
          <a:off x="4684787" y="0"/>
          <a:ext cx="1631651" cy="38912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Compare Model</a:t>
          </a:r>
        </a:p>
      </dsp:txBody>
      <dsp:txXfrm>
        <a:off x="4696184" y="11397"/>
        <a:ext cx="1608857" cy="366331"/>
      </dsp:txXfrm>
    </dsp:sp>
    <dsp:sp modelId="{AE9B1433-4B63-4FC4-A11E-52D8CB89FE49}">
      <dsp:nvSpPr>
        <dsp:cNvPr id="0" name=""/>
        <dsp:cNvSpPr/>
      </dsp:nvSpPr>
      <dsp:spPr>
        <a:xfrm>
          <a:off x="6545787" y="0"/>
          <a:ext cx="486217" cy="38912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545787" y="77825"/>
        <a:ext cx="369480" cy="233475"/>
      </dsp:txXfrm>
    </dsp:sp>
    <dsp:sp modelId="{5B582E07-98EB-4996-9178-2983BCABB95E}">
      <dsp:nvSpPr>
        <dsp:cNvPr id="0" name=""/>
        <dsp:cNvSpPr/>
      </dsp:nvSpPr>
      <dsp:spPr>
        <a:xfrm>
          <a:off x="7233831" y="0"/>
          <a:ext cx="1657315" cy="38912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Save Model</a:t>
          </a:r>
        </a:p>
      </dsp:txBody>
      <dsp:txXfrm>
        <a:off x="7245228" y="11397"/>
        <a:ext cx="1634521" cy="36633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A243A6-F895-4E7A-86C5-F16EEDFCC2CF}"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2680DC-9234-4C0A-B88D-6816EDC6F17A}" type="slidenum">
              <a:rPr lang="en-US" smtClean="0"/>
              <a:t>‹#›</a:t>
            </a:fld>
            <a:endParaRPr lang="en-US"/>
          </a:p>
        </p:txBody>
      </p:sp>
    </p:spTree>
    <p:extLst>
      <p:ext uri="{BB962C8B-B14F-4D97-AF65-F5344CB8AC3E}">
        <p14:creationId xmlns:p14="http://schemas.microsoft.com/office/powerpoint/2010/main" val="366993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2680DC-9234-4C0A-B88D-6816EDC6F17A}" type="slidenum">
              <a:rPr lang="en-US" smtClean="0"/>
              <a:t>13</a:t>
            </a:fld>
            <a:endParaRPr lang="en-US"/>
          </a:p>
        </p:txBody>
      </p:sp>
    </p:spTree>
    <p:extLst>
      <p:ext uri="{BB962C8B-B14F-4D97-AF65-F5344CB8AC3E}">
        <p14:creationId xmlns:p14="http://schemas.microsoft.com/office/powerpoint/2010/main" val="335529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6E968-3D0B-C291-0B5C-43CE0D44F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F3CE1-00F0-ABD1-0685-8D8731722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F165D-4CA7-85A7-0610-0553C60E47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66B766-9D87-ADAF-3AF0-93CEF8B317C8}"/>
              </a:ext>
            </a:extLst>
          </p:cNvPr>
          <p:cNvSpPr>
            <a:spLocks noGrp="1"/>
          </p:cNvSpPr>
          <p:nvPr>
            <p:ph type="sldNum" sz="quarter" idx="5"/>
          </p:nvPr>
        </p:nvSpPr>
        <p:spPr/>
        <p:txBody>
          <a:bodyPr/>
          <a:lstStyle/>
          <a:p>
            <a:fld id="{CC2680DC-9234-4C0A-B88D-6816EDC6F17A}" type="slidenum">
              <a:rPr lang="en-US" smtClean="0"/>
              <a:t>14</a:t>
            </a:fld>
            <a:endParaRPr lang="en-US"/>
          </a:p>
        </p:txBody>
      </p:sp>
    </p:spTree>
    <p:extLst>
      <p:ext uri="{BB962C8B-B14F-4D97-AF65-F5344CB8AC3E}">
        <p14:creationId xmlns:p14="http://schemas.microsoft.com/office/powerpoint/2010/main" val="2418329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0198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66123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6656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87863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44447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6741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03773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36657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61777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56584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11/2/2025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055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11/2/2025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7681010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tejas371-ai/OIM_7502_classwork.git"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Wavy 3D art">
            <a:extLst>
              <a:ext uri="{FF2B5EF4-FFF2-40B4-BE49-F238E27FC236}">
                <a16:creationId xmlns:a16="http://schemas.microsoft.com/office/drawing/2014/main" id="{9AC346FF-CB1C-0A27-B6C8-E17BC2EC5794}"/>
              </a:ext>
            </a:extLst>
          </p:cNvPr>
          <p:cNvPicPr>
            <a:picLocks noChangeAspect="1"/>
          </p:cNvPicPr>
          <p:nvPr/>
        </p:nvPicPr>
        <p:blipFill>
          <a:blip r:embed="rId2"/>
          <a:srcRect t="18806" r="9091" b="15212"/>
          <a:stretch>
            <a:fillRect/>
          </a:stretch>
        </p:blipFill>
        <p:spPr>
          <a:xfrm>
            <a:off x="20" y="10"/>
            <a:ext cx="12191979" cy="6857990"/>
          </a:xfrm>
          <a:prstGeom prst="rect">
            <a:avLst/>
          </a:prstGeom>
        </p:spPr>
      </p:pic>
      <p:sp>
        <p:nvSpPr>
          <p:cNvPr id="32" name="Rectangle 31">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C5F75077-EEDD-051E-8DC1-9FFBCED74ED8}"/>
              </a:ext>
            </a:extLst>
          </p:cNvPr>
          <p:cNvSpPr>
            <a:spLocks noGrp="1"/>
          </p:cNvSpPr>
          <p:nvPr>
            <p:ph type="ctrTitle"/>
          </p:nvPr>
        </p:nvSpPr>
        <p:spPr>
          <a:xfrm>
            <a:off x="438910" y="978408"/>
            <a:ext cx="4795819" cy="3969960"/>
          </a:xfrm>
        </p:spPr>
        <p:txBody>
          <a:bodyPr anchor="t">
            <a:normAutofit/>
          </a:bodyPr>
          <a:lstStyle/>
          <a:p>
            <a:pPr>
              <a:lnSpc>
                <a:spcPct val="90000"/>
              </a:lnSpc>
            </a:pPr>
            <a:r>
              <a:rPr lang="en-US" sz="5600"/>
              <a:t>PyCaret: </a:t>
            </a:r>
            <a:r>
              <a:rPr lang="en-US" sz="5600" dirty="0"/>
              <a:t>Automation for the Data Scientist</a:t>
            </a:r>
            <a:br>
              <a:rPr lang="en-US" sz="5600" dirty="0"/>
            </a:br>
            <a:endParaRPr lang="en-US" sz="5600" dirty="0"/>
          </a:p>
        </p:txBody>
      </p:sp>
      <p:sp>
        <p:nvSpPr>
          <p:cNvPr id="3" name="Subtitle 2">
            <a:extLst>
              <a:ext uri="{FF2B5EF4-FFF2-40B4-BE49-F238E27FC236}">
                <a16:creationId xmlns:a16="http://schemas.microsoft.com/office/drawing/2014/main" id="{DDD45348-0170-E39C-AF64-D31E66B34867}"/>
              </a:ext>
            </a:extLst>
          </p:cNvPr>
          <p:cNvSpPr>
            <a:spLocks noGrp="1"/>
          </p:cNvSpPr>
          <p:nvPr>
            <p:ph type="subTitle" idx="1"/>
          </p:nvPr>
        </p:nvSpPr>
        <p:spPr>
          <a:xfrm>
            <a:off x="438909" y="4948369"/>
            <a:ext cx="5234709" cy="1157436"/>
          </a:xfrm>
        </p:spPr>
        <p:txBody>
          <a:bodyPr anchor="b">
            <a:normAutofit fontScale="77500" lnSpcReduction="20000"/>
          </a:bodyPr>
          <a:lstStyle/>
          <a:p>
            <a:pPr>
              <a:lnSpc>
                <a:spcPct val="100000"/>
              </a:lnSpc>
              <a:buNone/>
            </a:pPr>
            <a:r>
              <a:rPr lang="en-US" sz="2000" b="1"/>
              <a:t>Your Name:</a:t>
            </a:r>
            <a:r>
              <a:rPr lang="en-US" sz="2000"/>
              <a:t> Tejas Kulkarni </a:t>
            </a:r>
          </a:p>
          <a:p>
            <a:pPr>
              <a:lnSpc>
                <a:spcPct val="100000"/>
              </a:lnSpc>
              <a:buNone/>
            </a:pPr>
            <a:r>
              <a:rPr lang="en-US" sz="2000" b="1"/>
              <a:t>Course:</a:t>
            </a:r>
            <a:r>
              <a:rPr lang="en-US" sz="2000"/>
              <a:t> OIM 7502 - Advanced Programming </a:t>
            </a:r>
          </a:p>
          <a:p>
            <a:pPr>
              <a:lnSpc>
                <a:spcPct val="100000"/>
              </a:lnSpc>
            </a:pPr>
            <a:r>
              <a:rPr lang="en-US" sz="2000">
                <a:hlinkClick r:id="rId3">
                  <a:extLst>
                    <a:ext uri="{A12FA001-AC4F-418D-AE19-62706E023703}">
                      <ahyp:hlinkClr xmlns:ahyp="http://schemas.microsoft.com/office/drawing/2018/hyperlinkcolor" val="tx"/>
                    </a:ext>
                  </a:extLst>
                </a:hlinkClick>
              </a:rPr>
              <a:t>https://github.com/tejas371-ai/OIM_7502_classwork.git</a:t>
            </a:r>
            <a:endParaRPr lang="en-US" sz="2000" dirty="0"/>
          </a:p>
        </p:txBody>
      </p:sp>
      <p:sp>
        <p:nvSpPr>
          <p:cNvPr id="34" name="Rectangle 33">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55510416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F4F210-1175-B253-74C8-B61E64DE0B7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7" name="Title 6">
            <a:extLst>
              <a:ext uri="{FF2B5EF4-FFF2-40B4-BE49-F238E27FC236}">
                <a16:creationId xmlns:a16="http://schemas.microsoft.com/office/drawing/2014/main" id="{520BC73E-DC57-1938-1859-A55F4B8EF852}"/>
              </a:ext>
            </a:extLst>
          </p:cNvPr>
          <p:cNvSpPr>
            <a:spLocks noGrp="1"/>
          </p:cNvSpPr>
          <p:nvPr>
            <p:ph type="title"/>
          </p:nvPr>
        </p:nvSpPr>
        <p:spPr>
          <a:xfrm>
            <a:off x="521208" y="978408"/>
            <a:ext cx="4754880" cy="1463040"/>
          </a:xfrm>
        </p:spPr>
        <p:txBody>
          <a:bodyPr>
            <a:normAutofit/>
          </a:bodyPr>
          <a:lstStyle/>
          <a:p>
            <a:r>
              <a:rPr lang="en-US" dirty="0"/>
              <a:t>What is </a:t>
            </a:r>
            <a:r>
              <a:rPr lang="en-US" dirty="0" err="1"/>
              <a:t>PyCaret</a:t>
            </a:r>
            <a:r>
              <a:rPr lang="en-US" dirty="0"/>
              <a:t>? (The Library)</a:t>
            </a:r>
          </a:p>
        </p:txBody>
      </p:sp>
      <p:sp>
        <p:nvSpPr>
          <p:cNvPr id="15" name="Rectangle 14">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8" name="Content Placeholder 7">
            <a:extLst>
              <a:ext uri="{FF2B5EF4-FFF2-40B4-BE49-F238E27FC236}">
                <a16:creationId xmlns:a16="http://schemas.microsoft.com/office/drawing/2014/main" id="{738D2C77-8095-3FAC-A7E7-50D216D44E15}"/>
              </a:ext>
            </a:extLst>
          </p:cNvPr>
          <p:cNvSpPr>
            <a:spLocks noGrp="1"/>
          </p:cNvSpPr>
          <p:nvPr>
            <p:ph idx="1"/>
          </p:nvPr>
        </p:nvSpPr>
        <p:spPr>
          <a:xfrm>
            <a:off x="521208" y="2578608"/>
            <a:ext cx="4672584" cy="3767328"/>
          </a:xfrm>
        </p:spPr>
        <p:txBody>
          <a:bodyPr>
            <a:normAutofit/>
          </a:bodyPr>
          <a:lstStyle/>
          <a:p>
            <a:pPr>
              <a:lnSpc>
                <a:spcPct val="100000"/>
              </a:lnSpc>
            </a:pPr>
            <a:r>
              <a:rPr lang="en-US" b="1" dirty="0"/>
              <a:t>Definition:</a:t>
            </a:r>
            <a:r>
              <a:rPr lang="en-US" dirty="0"/>
              <a:t> An open-source, low-code Python library that </a:t>
            </a:r>
            <a:r>
              <a:rPr lang="en-US" b="1" dirty="0"/>
              <a:t>automates the entire ML workflow</a:t>
            </a:r>
            <a:r>
              <a:rPr lang="en-US" dirty="0"/>
              <a:t>.</a:t>
            </a:r>
            <a:endParaRPr lang="en-US"/>
          </a:p>
          <a:p>
            <a:pPr>
              <a:lnSpc>
                <a:spcPct val="100000"/>
              </a:lnSpc>
            </a:pPr>
            <a:r>
              <a:rPr lang="en-US" b="1" dirty="0"/>
              <a:t>The Power:</a:t>
            </a:r>
            <a:r>
              <a:rPr lang="en-US" dirty="0"/>
              <a:t> </a:t>
            </a:r>
            <a:r>
              <a:rPr lang="en-US" dirty="0" err="1"/>
              <a:t>PyCaret</a:t>
            </a:r>
            <a:r>
              <a:rPr lang="en-US" dirty="0"/>
              <a:t> is a wrapper around established libraries (scikit-learn, </a:t>
            </a:r>
            <a:r>
              <a:rPr lang="en-US" dirty="0" err="1"/>
              <a:t>XGBoost</a:t>
            </a:r>
            <a:r>
              <a:rPr lang="en-US" dirty="0"/>
              <a:t>, </a:t>
            </a:r>
            <a:r>
              <a:rPr lang="en-US" dirty="0" err="1"/>
              <a:t>LightGBM</a:t>
            </a:r>
            <a:r>
              <a:rPr lang="en-US" dirty="0"/>
              <a:t>, </a:t>
            </a:r>
            <a:r>
              <a:rPr lang="en-US" dirty="0" err="1"/>
              <a:t>CatBoost</a:t>
            </a:r>
            <a:r>
              <a:rPr lang="en-US" dirty="0"/>
              <a:t>). It packages complex functions into one line of code.</a:t>
            </a:r>
            <a:endParaRPr lang="en-US"/>
          </a:p>
          <a:p>
            <a:pPr>
              <a:lnSpc>
                <a:spcPct val="100000"/>
              </a:lnSpc>
            </a:pPr>
            <a:r>
              <a:rPr lang="en-US" b="1" dirty="0"/>
              <a:t>Key Advantage:</a:t>
            </a:r>
            <a:r>
              <a:rPr lang="en-US" dirty="0"/>
              <a:t> It can replace hundreds of lines of tedious data preprocessing and model selection code with simple functions.</a:t>
            </a:r>
            <a:endParaRPr lang="en-US"/>
          </a:p>
          <a:p>
            <a:pPr>
              <a:lnSpc>
                <a:spcPct val="100000"/>
              </a:lnSpc>
            </a:pPr>
            <a:endParaRPr lang="en-US"/>
          </a:p>
        </p:txBody>
      </p:sp>
      <p:pic>
        <p:nvPicPr>
          <p:cNvPr id="4" name="Picture 3" descr="Wavy 3D art">
            <a:extLst>
              <a:ext uri="{FF2B5EF4-FFF2-40B4-BE49-F238E27FC236}">
                <a16:creationId xmlns:a16="http://schemas.microsoft.com/office/drawing/2014/main" id="{0DD23F8F-F1C3-DFEE-DA77-34512998ECA6}"/>
              </a:ext>
            </a:extLst>
          </p:cNvPr>
          <p:cNvPicPr>
            <a:picLocks noChangeAspect="1"/>
          </p:cNvPicPr>
          <p:nvPr/>
        </p:nvPicPr>
        <p:blipFill>
          <a:blip r:embed="rId2"/>
          <a:srcRect l="12160" r="12159"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3999791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011020-1E2B-3844-3BDA-1B5C66BD27B5}"/>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7" name="Title 6">
            <a:extLst>
              <a:ext uri="{FF2B5EF4-FFF2-40B4-BE49-F238E27FC236}">
                <a16:creationId xmlns:a16="http://schemas.microsoft.com/office/drawing/2014/main" id="{E9627F14-4D09-BF9E-92FE-57BB67547FD8}"/>
              </a:ext>
            </a:extLst>
          </p:cNvPr>
          <p:cNvSpPr>
            <a:spLocks noGrp="1"/>
          </p:cNvSpPr>
          <p:nvPr>
            <p:ph type="title"/>
          </p:nvPr>
        </p:nvSpPr>
        <p:spPr>
          <a:xfrm>
            <a:off x="521208" y="978408"/>
            <a:ext cx="4754880" cy="1463040"/>
          </a:xfrm>
        </p:spPr>
        <p:txBody>
          <a:bodyPr>
            <a:normAutofit/>
          </a:bodyPr>
          <a:lstStyle/>
          <a:p>
            <a:r>
              <a:rPr lang="en-US" dirty="0"/>
              <a:t>Why Use </a:t>
            </a:r>
            <a:r>
              <a:rPr lang="en-US" dirty="0" err="1"/>
              <a:t>PyCaret</a:t>
            </a:r>
            <a:r>
              <a:rPr lang="en-US" dirty="0"/>
              <a:t>?</a:t>
            </a:r>
          </a:p>
        </p:txBody>
      </p:sp>
      <p:sp>
        <p:nvSpPr>
          <p:cNvPr id="32" name="Rectangle 31">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8" name="Content Placeholder 7">
            <a:extLst>
              <a:ext uri="{FF2B5EF4-FFF2-40B4-BE49-F238E27FC236}">
                <a16:creationId xmlns:a16="http://schemas.microsoft.com/office/drawing/2014/main" id="{49631CE7-D135-2464-2C28-6C2B8D4BDACF}"/>
              </a:ext>
            </a:extLst>
          </p:cNvPr>
          <p:cNvSpPr>
            <a:spLocks noGrp="1"/>
          </p:cNvSpPr>
          <p:nvPr>
            <p:ph idx="1"/>
          </p:nvPr>
        </p:nvSpPr>
        <p:spPr>
          <a:xfrm>
            <a:off x="521208" y="2578608"/>
            <a:ext cx="4672584" cy="3767328"/>
          </a:xfrm>
        </p:spPr>
        <p:txBody>
          <a:bodyPr>
            <a:normAutofit/>
          </a:bodyPr>
          <a:lstStyle/>
          <a:p>
            <a:r>
              <a:rPr lang="en-US" dirty="0"/>
              <a:t>Allows a less experienced coder to become a “citizen data scientist” – a less experienced coder who is now able to perform sophisticated techniques that would have previously required much more expertise</a:t>
            </a:r>
          </a:p>
          <a:p>
            <a:r>
              <a:rPr lang="en-US" dirty="0"/>
              <a:t>Experienced data scientists can be expensive and difficult to find, so the emergence of citizen data scientists can be helpful for businesses</a:t>
            </a:r>
          </a:p>
        </p:txBody>
      </p:sp>
      <p:pic>
        <p:nvPicPr>
          <p:cNvPr id="4" name="Picture 3" descr="Wavy 3D art">
            <a:extLst>
              <a:ext uri="{FF2B5EF4-FFF2-40B4-BE49-F238E27FC236}">
                <a16:creationId xmlns:a16="http://schemas.microsoft.com/office/drawing/2014/main" id="{AD9EB25F-8D2F-C4A8-FFEF-269FE8BECE43}"/>
              </a:ext>
            </a:extLst>
          </p:cNvPr>
          <p:cNvPicPr>
            <a:picLocks noChangeAspect="1"/>
          </p:cNvPicPr>
          <p:nvPr/>
        </p:nvPicPr>
        <p:blipFill>
          <a:blip r:embed="rId2"/>
          <a:srcRect l="12161" r="12158"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2956266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E3ED8D-5406-74DB-8E5C-C2DFB3F7628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D5B92069-BFDE-B8B6-6F43-9A5D81F9E9A0}"/>
              </a:ext>
            </a:extLst>
          </p:cNvPr>
          <p:cNvSpPr>
            <a:spLocks noGrp="1"/>
          </p:cNvSpPr>
          <p:nvPr>
            <p:ph type="title"/>
          </p:nvPr>
        </p:nvSpPr>
        <p:spPr>
          <a:xfrm>
            <a:off x="521208" y="978408"/>
            <a:ext cx="6537960" cy="1463040"/>
          </a:xfrm>
        </p:spPr>
        <p:txBody>
          <a:bodyPr>
            <a:normAutofit/>
          </a:bodyPr>
          <a:lstStyle/>
          <a:p>
            <a:r>
              <a:rPr lang="en-US"/>
              <a:t>Why Low-Code is Essential in Business</a:t>
            </a:r>
            <a:endParaRPr lang="en-US" dirty="0"/>
          </a:p>
        </p:txBody>
      </p:sp>
      <p:sp>
        <p:nvSpPr>
          <p:cNvPr id="18" name="Freeform: Shape 17">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F4F2761C-4261-BB3F-A519-BF4D3CCA73E2}"/>
              </a:ext>
            </a:extLst>
          </p:cNvPr>
          <p:cNvSpPr>
            <a:spLocks noGrp="1"/>
          </p:cNvSpPr>
          <p:nvPr>
            <p:ph idx="1"/>
          </p:nvPr>
        </p:nvSpPr>
        <p:spPr>
          <a:xfrm>
            <a:off x="521208" y="2578608"/>
            <a:ext cx="6537960" cy="3767328"/>
          </a:xfrm>
        </p:spPr>
        <p:txBody>
          <a:bodyPr>
            <a:normAutofit/>
          </a:bodyPr>
          <a:lstStyle/>
          <a:p>
            <a:r>
              <a:rPr lang="en-US" b="1" dirty="0"/>
              <a:t>Citizen Data Scientists:</a:t>
            </a:r>
            <a:r>
              <a:rPr lang="en-US" dirty="0"/>
              <a:t> </a:t>
            </a:r>
            <a:r>
              <a:rPr lang="en-US" dirty="0" err="1"/>
              <a:t>PyCaret</a:t>
            </a:r>
            <a:r>
              <a:rPr lang="en-US" dirty="0"/>
              <a:t> empowers less experienced analysts ("power users") to perform sophisticated techniques (tuning, </a:t>
            </a:r>
            <a:r>
              <a:rPr lang="en-US" dirty="0" err="1"/>
              <a:t>ensembling</a:t>
            </a:r>
            <a:r>
              <a:rPr lang="en-US" dirty="0"/>
              <a:t>) that previously required heavy expertise. This helps businesses address the skills gap.</a:t>
            </a:r>
          </a:p>
          <a:p>
            <a:r>
              <a:rPr lang="en-US" b="1" dirty="0"/>
              <a:t>Expert Productivity:</a:t>
            </a:r>
            <a:r>
              <a:rPr lang="en-US" dirty="0"/>
              <a:t> Seasoned data scientists use </a:t>
            </a:r>
            <a:r>
              <a:rPr lang="en-US" dirty="0" err="1"/>
              <a:t>PyCaret</a:t>
            </a:r>
            <a:r>
              <a:rPr lang="en-US" dirty="0"/>
              <a:t> for </a:t>
            </a:r>
            <a:r>
              <a:rPr lang="en-US" b="1" dirty="0"/>
              <a:t>Rapid Prototyping</a:t>
            </a:r>
            <a:r>
              <a:rPr lang="en-US" dirty="0"/>
              <a:t>. They can benchmark 20+ models in minutes, freeing up time for complex, custom feature engineering.</a:t>
            </a:r>
          </a:p>
          <a:p>
            <a:r>
              <a:rPr lang="en-US" b="1" dirty="0"/>
              <a:t>Consistency:</a:t>
            </a:r>
            <a:r>
              <a:rPr lang="en-US" dirty="0"/>
              <a:t> The simple API ensures all experiments follow a consistent, auditable pipeline.</a:t>
            </a:r>
          </a:p>
        </p:txBody>
      </p:sp>
      <p:pic>
        <p:nvPicPr>
          <p:cNvPr id="4" name="Picture 3" descr="Wavy 3D art">
            <a:extLst>
              <a:ext uri="{FF2B5EF4-FFF2-40B4-BE49-F238E27FC236}">
                <a16:creationId xmlns:a16="http://schemas.microsoft.com/office/drawing/2014/main" id="{D2E1447E-A130-81A2-19BA-C374A0445EBA}"/>
              </a:ext>
            </a:extLst>
          </p:cNvPr>
          <p:cNvPicPr>
            <a:picLocks noChangeAspect="1"/>
          </p:cNvPicPr>
          <p:nvPr/>
        </p:nvPicPr>
        <p:blipFill>
          <a:blip r:embed="rId2"/>
          <a:srcRect l="22944" r="19177" b="-2"/>
          <a:stretch>
            <a:fillRect/>
          </a:stretch>
        </p:blipFill>
        <p:spPr>
          <a:xfrm>
            <a:off x="7659149" y="976160"/>
            <a:ext cx="4011643" cy="5371797"/>
          </a:xfrm>
          <a:prstGeom prst="rect">
            <a:avLst/>
          </a:prstGeom>
        </p:spPr>
      </p:pic>
    </p:spTree>
    <p:extLst>
      <p:ext uri="{BB962C8B-B14F-4D97-AF65-F5344CB8AC3E}">
        <p14:creationId xmlns:p14="http://schemas.microsoft.com/office/powerpoint/2010/main" val="3557456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6093-0137-B864-AF21-826FCF6ABBFF}"/>
            </a:ext>
          </a:extLst>
        </p:cNvPr>
        <p:cNvGrpSpPr/>
        <p:nvPr/>
      </p:nvGrpSpPr>
      <p:grpSpPr>
        <a:xfrm>
          <a:off x="0" y="0"/>
          <a:ext cx="0" cy="0"/>
          <a:chOff x="0" y="0"/>
          <a:chExt cx="0" cy="0"/>
        </a:xfrm>
      </p:grpSpPr>
      <p:pic>
        <p:nvPicPr>
          <p:cNvPr id="4" name="Picture 3" descr="Wavy 3D art">
            <a:extLst>
              <a:ext uri="{FF2B5EF4-FFF2-40B4-BE49-F238E27FC236}">
                <a16:creationId xmlns:a16="http://schemas.microsoft.com/office/drawing/2014/main" id="{8ACD397A-8084-9DC4-2533-840582C28D06}"/>
              </a:ext>
            </a:extLst>
          </p:cNvPr>
          <p:cNvPicPr>
            <a:picLocks noChangeAspect="1"/>
          </p:cNvPicPr>
          <p:nvPr/>
        </p:nvPicPr>
        <p:blipFill>
          <a:blip r:embed="rId2">
            <a:alphaModFix amt="40000"/>
          </a:blip>
          <a:srcRect t="13212" b="14207"/>
          <a:stretch>
            <a:fillRect/>
          </a:stretch>
        </p:blipFill>
        <p:spPr>
          <a:xfrm>
            <a:off x="0" y="0"/>
            <a:ext cx="12192001" cy="6858001"/>
          </a:xfrm>
          <a:prstGeom prst="rect">
            <a:avLst/>
          </a:prstGeom>
        </p:spPr>
      </p:pic>
      <p:sp>
        <p:nvSpPr>
          <p:cNvPr id="7" name="Title 6">
            <a:extLst>
              <a:ext uri="{FF2B5EF4-FFF2-40B4-BE49-F238E27FC236}">
                <a16:creationId xmlns:a16="http://schemas.microsoft.com/office/drawing/2014/main" id="{F33CA0D3-CE19-12E5-8FBB-E8F3F4EF5194}"/>
              </a:ext>
            </a:extLst>
          </p:cNvPr>
          <p:cNvSpPr>
            <a:spLocks noGrp="1"/>
          </p:cNvSpPr>
          <p:nvPr>
            <p:ph type="title"/>
          </p:nvPr>
        </p:nvSpPr>
        <p:spPr>
          <a:xfrm>
            <a:off x="521208" y="771143"/>
            <a:ext cx="11155680" cy="1463040"/>
          </a:xfrm>
        </p:spPr>
        <p:txBody>
          <a:bodyPr>
            <a:normAutofit/>
          </a:bodyPr>
          <a:lstStyle/>
          <a:p>
            <a:r>
              <a:rPr lang="en-US" dirty="0"/>
              <a:t>Modules and The Core Workflow</a:t>
            </a:r>
          </a:p>
        </p:txBody>
      </p:sp>
      <p:sp>
        <p:nvSpPr>
          <p:cNvPr id="8" name="Content Placeholder 7">
            <a:extLst>
              <a:ext uri="{FF2B5EF4-FFF2-40B4-BE49-F238E27FC236}">
                <a16:creationId xmlns:a16="http://schemas.microsoft.com/office/drawing/2014/main" id="{97D3BA1E-EE30-F173-0B27-6EF40B28AC21}"/>
              </a:ext>
            </a:extLst>
          </p:cNvPr>
          <p:cNvSpPr>
            <a:spLocks noGrp="1"/>
          </p:cNvSpPr>
          <p:nvPr>
            <p:ph idx="1"/>
          </p:nvPr>
        </p:nvSpPr>
        <p:spPr>
          <a:xfrm>
            <a:off x="601134" y="1896533"/>
            <a:ext cx="11155680" cy="4648200"/>
          </a:xfrm>
        </p:spPr>
        <p:txBody>
          <a:bodyPr/>
          <a:lstStyle/>
          <a:p>
            <a:pPr marL="0" indent="0">
              <a:buNone/>
            </a:pPr>
            <a:r>
              <a:rPr lang="en-US" b="1" dirty="0" err="1"/>
              <a:t>PyCaret's</a:t>
            </a:r>
            <a:r>
              <a:rPr lang="en-US" b="1" dirty="0"/>
              <a:t> Modular Design : </a:t>
            </a:r>
            <a:r>
              <a:rPr lang="en-US" dirty="0" err="1"/>
              <a:t>PyCaret</a:t>
            </a:r>
            <a:r>
              <a:rPr lang="en-US" dirty="0"/>
              <a:t> uses a unified workflow across different ML tasks:</a:t>
            </a:r>
          </a:p>
          <a:p>
            <a:pPr marL="0" indent="0">
              <a:buNone/>
            </a:pPr>
            <a:endParaRPr lang="en-US" dirty="0"/>
          </a:p>
          <a:p>
            <a:pPr marL="0" indent="0">
              <a:buNone/>
            </a:pPr>
            <a:endParaRPr lang="en-US" dirty="0"/>
          </a:p>
          <a:p>
            <a:pPr marL="0" indent="0">
              <a:buNone/>
            </a:pPr>
            <a:endParaRPr lang="en-US" b="1" dirty="0"/>
          </a:p>
          <a:p>
            <a:pPr marL="0" indent="0">
              <a:buNone/>
            </a:pPr>
            <a:endParaRPr lang="en-US" dirty="0"/>
          </a:p>
          <a:p>
            <a:endParaRPr lang="en-US" dirty="0"/>
          </a:p>
          <a:p>
            <a:pPr marL="0" indent="0">
              <a:buNone/>
            </a:pPr>
            <a:endParaRPr lang="en-US" b="1" dirty="0"/>
          </a:p>
          <a:p>
            <a:pPr marL="0" indent="0">
              <a:buNone/>
            </a:pPr>
            <a:r>
              <a:rPr lang="en-US" b="1" dirty="0"/>
              <a:t>Core Workflow:</a:t>
            </a:r>
            <a:endParaRPr lang="en-US" dirty="0"/>
          </a:p>
        </p:txBody>
      </p:sp>
      <p:graphicFrame>
        <p:nvGraphicFramePr>
          <p:cNvPr id="5" name="Table 4">
            <a:extLst>
              <a:ext uri="{FF2B5EF4-FFF2-40B4-BE49-F238E27FC236}">
                <a16:creationId xmlns:a16="http://schemas.microsoft.com/office/drawing/2014/main" id="{07A0C800-7835-6313-9B61-C5994CFCE629}"/>
              </a:ext>
            </a:extLst>
          </p:cNvPr>
          <p:cNvGraphicFramePr>
            <a:graphicFrameLocks noGrp="1"/>
          </p:cNvGraphicFramePr>
          <p:nvPr>
            <p:extLst>
              <p:ext uri="{D42A27DB-BD31-4B8C-83A1-F6EECF244321}">
                <p14:modId xmlns:p14="http://schemas.microsoft.com/office/powerpoint/2010/main" val="345407124"/>
              </p:ext>
            </p:extLst>
          </p:nvPr>
        </p:nvGraphicFramePr>
        <p:xfrm>
          <a:off x="1906270" y="2478365"/>
          <a:ext cx="7865534" cy="2219960"/>
        </p:xfrm>
        <a:graphic>
          <a:graphicData uri="http://schemas.openxmlformats.org/drawingml/2006/table">
            <a:tbl>
              <a:tblPr firstRow="1" bandRow="1">
                <a:tableStyleId>{793D81CF-94F2-401A-BA57-92F5A7B2D0C5}</a:tableStyleId>
              </a:tblPr>
              <a:tblGrid>
                <a:gridCol w="2482754">
                  <a:extLst>
                    <a:ext uri="{9D8B030D-6E8A-4147-A177-3AD203B41FA5}">
                      <a16:colId xmlns:a16="http://schemas.microsoft.com/office/drawing/2014/main" val="628181453"/>
                    </a:ext>
                  </a:extLst>
                </a:gridCol>
                <a:gridCol w="5382780">
                  <a:extLst>
                    <a:ext uri="{9D8B030D-6E8A-4147-A177-3AD203B41FA5}">
                      <a16:colId xmlns:a16="http://schemas.microsoft.com/office/drawing/2014/main" val="1688042764"/>
                    </a:ext>
                  </a:extLst>
                </a:gridCol>
              </a:tblGrid>
              <a:tr h="358478">
                <a:tc>
                  <a:txBody>
                    <a:bodyPr/>
                    <a:lstStyle/>
                    <a:p>
                      <a:r>
                        <a:rPr lang="en-US" dirty="0"/>
                        <a:t>Module</a:t>
                      </a:r>
                    </a:p>
                  </a:txBody>
                  <a:tcPr>
                    <a:lnB w="12700" cap="flat" cmpd="sng" algn="ctr">
                      <a:solidFill>
                        <a:schemeClr val="tx1"/>
                      </a:solidFill>
                      <a:prstDash val="solid"/>
                      <a:round/>
                      <a:headEnd type="none" w="med" len="med"/>
                      <a:tailEnd type="none" w="med" len="med"/>
                    </a:lnB>
                  </a:tcPr>
                </a:tc>
                <a:tc>
                  <a:txBody>
                    <a:bodyPr/>
                    <a:lstStyle/>
                    <a:p>
                      <a:r>
                        <a:rPr lang="en-US" dirty="0"/>
                        <a:t>Task</a:t>
                      </a:r>
                    </a:p>
                  </a:txBody>
                  <a:tcPr/>
                </a:tc>
                <a:extLst>
                  <a:ext uri="{0D108BD9-81ED-4DB2-BD59-A6C34878D82A}">
                    <a16:rowId xmlns:a16="http://schemas.microsoft.com/office/drawing/2014/main" val="2265723794"/>
                  </a:ext>
                </a:extLst>
              </a:tr>
              <a:tr h="370840">
                <a:tc>
                  <a:txBody>
                    <a:bodyPr/>
                    <a:lstStyle/>
                    <a:p>
                      <a:r>
                        <a:rPr lang="en-US" dirty="0"/>
                        <a:t>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Predicts categories (e.g., Yes/No, A/B/C)</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6761888"/>
                  </a:ext>
                </a:extLst>
              </a:tr>
              <a:tr h="370840">
                <a:tc>
                  <a:txBody>
                    <a:bodyPr/>
                    <a:lstStyle/>
                    <a:p>
                      <a:r>
                        <a:rPr lang="en-US" dirty="0"/>
                        <a:t>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Predicts continuous values (e.g., Price, Temperature)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96040"/>
                  </a:ext>
                </a:extLst>
              </a:tr>
              <a:tr h="370840">
                <a:tc>
                  <a:txBody>
                    <a:bodyPr/>
                    <a:lstStyle/>
                    <a:p>
                      <a:r>
                        <a:rPr lang="en-US" dirty="0"/>
                        <a:t>Time Series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Forecasts values over time (e.g., Sales, Demand)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0016395"/>
                  </a:ext>
                </a:extLst>
              </a:tr>
              <a:tr h="370840">
                <a:tc>
                  <a:txBody>
                    <a:bodyPr/>
                    <a:lstStyle/>
                    <a:p>
                      <a:r>
                        <a:rPr lang="en-US" dirty="0"/>
                        <a:t>Clustering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Fids hidden groups (e.g., Customer Segmentation)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75366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Anomaly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Finds outliers (e.g., Fraud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260437"/>
                  </a:ext>
                </a:extLst>
              </a:tr>
            </a:tbl>
          </a:graphicData>
        </a:graphic>
      </p:graphicFrame>
      <p:graphicFrame>
        <p:nvGraphicFramePr>
          <p:cNvPr id="6" name="Diagram 5">
            <a:extLst>
              <a:ext uri="{FF2B5EF4-FFF2-40B4-BE49-F238E27FC236}">
                <a16:creationId xmlns:a16="http://schemas.microsoft.com/office/drawing/2014/main" id="{86F6EB34-D99B-9BBF-DB64-50FE32381394}"/>
              </a:ext>
            </a:extLst>
          </p:cNvPr>
          <p:cNvGraphicFramePr/>
          <p:nvPr>
            <p:extLst>
              <p:ext uri="{D42A27DB-BD31-4B8C-83A1-F6EECF244321}">
                <p14:modId xmlns:p14="http://schemas.microsoft.com/office/powerpoint/2010/main" val="1423276261"/>
              </p:ext>
            </p:extLst>
          </p:nvPr>
        </p:nvGraphicFramePr>
        <p:xfrm>
          <a:off x="1391074" y="5629152"/>
          <a:ext cx="8895926" cy="389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997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6537B4-23F2-79B3-D5EF-8E8A134D0C1A}"/>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CA343DBE-A7F6-9FDF-4161-6F6C86AA8FD0}"/>
              </a:ext>
            </a:extLst>
          </p:cNvPr>
          <p:cNvSpPr>
            <a:spLocks noGrp="1"/>
          </p:cNvSpPr>
          <p:nvPr>
            <p:ph type="title"/>
          </p:nvPr>
        </p:nvSpPr>
        <p:spPr>
          <a:xfrm>
            <a:off x="521208" y="978408"/>
            <a:ext cx="5020056" cy="1463040"/>
          </a:xfrm>
        </p:spPr>
        <p:txBody>
          <a:bodyPr>
            <a:normAutofit/>
          </a:bodyPr>
          <a:lstStyle/>
          <a:p>
            <a:r>
              <a:rPr lang="en-US" dirty="0"/>
              <a:t>Datasets</a:t>
            </a:r>
          </a:p>
        </p:txBody>
      </p:sp>
      <p:sp>
        <p:nvSpPr>
          <p:cNvPr id="15" name="Rectangle 14">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FEC18529-AF16-7999-AF0E-F0D803A444D9}"/>
              </a:ext>
            </a:extLst>
          </p:cNvPr>
          <p:cNvSpPr>
            <a:spLocks noGrp="1"/>
          </p:cNvSpPr>
          <p:nvPr>
            <p:ph idx="1"/>
          </p:nvPr>
        </p:nvSpPr>
        <p:spPr>
          <a:xfrm>
            <a:off x="521208" y="2578608"/>
            <a:ext cx="5020056" cy="3767328"/>
          </a:xfrm>
        </p:spPr>
        <p:txBody>
          <a:bodyPr>
            <a:normAutofit/>
          </a:bodyPr>
          <a:lstStyle/>
          <a:p>
            <a:pPr marL="0" indent="0">
              <a:buNone/>
            </a:pPr>
            <a:r>
              <a:rPr lang="en-US" sz="2000" dirty="0"/>
              <a:t>Simple function to load datasets that can be used with the other modules</a:t>
            </a:r>
          </a:p>
          <a:p>
            <a:pPr marL="0" indent="0">
              <a:buNone/>
            </a:pPr>
            <a:endParaRPr lang="en-US" sz="2000" dirty="0"/>
          </a:p>
          <a:p>
            <a:endParaRPr lang="en-US" sz="2000" dirty="0"/>
          </a:p>
        </p:txBody>
      </p:sp>
      <p:pic>
        <p:nvPicPr>
          <p:cNvPr id="4" name="Picture 3" descr="Wavy 3D art">
            <a:extLst>
              <a:ext uri="{FF2B5EF4-FFF2-40B4-BE49-F238E27FC236}">
                <a16:creationId xmlns:a16="http://schemas.microsoft.com/office/drawing/2014/main" id="{78E57C2A-EE4B-02CC-056C-834DA52240DD}"/>
              </a:ext>
            </a:extLst>
          </p:cNvPr>
          <p:cNvPicPr>
            <a:picLocks noChangeAspect="1"/>
          </p:cNvPicPr>
          <p:nvPr/>
        </p:nvPicPr>
        <p:blipFill>
          <a:blip r:embed="rId2"/>
          <a:srcRect t="14443" r="1" b="15440"/>
          <a:stretch>
            <a:fillRect/>
          </a:stretch>
        </p:blipFill>
        <p:spPr>
          <a:xfrm>
            <a:off x="6560598" y="508090"/>
            <a:ext cx="5122753" cy="5837846"/>
          </a:xfrm>
          <a:prstGeom prst="rect">
            <a:avLst/>
          </a:prstGeom>
        </p:spPr>
      </p:pic>
      <p:pic>
        <p:nvPicPr>
          <p:cNvPr id="6" name="Picture 5">
            <a:extLst>
              <a:ext uri="{FF2B5EF4-FFF2-40B4-BE49-F238E27FC236}">
                <a16:creationId xmlns:a16="http://schemas.microsoft.com/office/drawing/2014/main" id="{DF44A8FD-0C92-9A8F-46E2-E7C6F4857585}"/>
              </a:ext>
            </a:extLst>
          </p:cNvPr>
          <p:cNvPicPr>
            <a:picLocks noChangeAspect="1"/>
          </p:cNvPicPr>
          <p:nvPr/>
        </p:nvPicPr>
        <p:blipFill>
          <a:blip r:embed="rId3"/>
          <a:stretch>
            <a:fillRect/>
          </a:stretch>
        </p:blipFill>
        <p:spPr>
          <a:xfrm>
            <a:off x="622000" y="3843867"/>
            <a:ext cx="4812922" cy="1703703"/>
          </a:xfrm>
          <a:prstGeom prst="rect">
            <a:avLst/>
          </a:prstGeom>
        </p:spPr>
      </p:pic>
    </p:spTree>
    <p:extLst>
      <p:ext uri="{BB962C8B-B14F-4D97-AF65-F5344CB8AC3E}">
        <p14:creationId xmlns:p14="http://schemas.microsoft.com/office/powerpoint/2010/main" val="380900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67DC9-0902-8146-21DC-730A9149A0E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A0E5897-E9F8-0F54-10F1-A2C5BFCB0A0A}"/>
              </a:ext>
            </a:extLst>
          </p:cNvPr>
          <p:cNvSpPr>
            <a:spLocks noGrp="1"/>
          </p:cNvSpPr>
          <p:nvPr>
            <p:ph type="title"/>
          </p:nvPr>
        </p:nvSpPr>
        <p:spPr>
          <a:xfrm>
            <a:off x="521208" y="978408"/>
            <a:ext cx="5020056" cy="1463040"/>
          </a:xfrm>
        </p:spPr>
        <p:txBody>
          <a:bodyPr>
            <a:normAutofit/>
          </a:bodyPr>
          <a:lstStyle/>
          <a:p>
            <a:r>
              <a:rPr lang="en-US" dirty="0"/>
              <a:t>Live Demo</a:t>
            </a:r>
          </a:p>
        </p:txBody>
      </p:sp>
      <p:sp>
        <p:nvSpPr>
          <p:cNvPr id="8" name="Content Placeholder 7">
            <a:extLst>
              <a:ext uri="{FF2B5EF4-FFF2-40B4-BE49-F238E27FC236}">
                <a16:creationId xmlns:a16="http://schemas.microsoft.com/office/drawing/2014/main" id="{B371C07B-8883-1F0B-B4EA-717A6E878240}"/>
              </a:ext>
            </a:extLst>
          </p:cNvPr>
          <p:cNvSpPr>
            <a:spLocks noGrp="1"/>
          </p:cNvSpPr>
          <p:nvPr>
            <p:ph idx="1"/>
          </p:nvPr>
        </p:nvSpPr>
        <p:spPr>
          <a:xfrm>
            <a:off x="521208" y="2578608"/>
            <a:ext cx="5020056" cy="3767328"/>
          </a:xfrm>
        </p:spPr>
        <p:txBody>
          <a:bodyPr>
            <a:normAutofit/>
          </a:bodyPr>
          <a:lstStyle/>
          <a:p>
            <a:pPr marL="0" indent="0">
              <a:buNone/>
            </a:pPr>
            <a:r>
              <a:rPr lang="en-US" sz="2000" b="1" dirty="0"/>
              <a:t>Modules</a:t>
            </a:r>
          </a:p>
          <a:p>
            <a:pPr marL="457200" indent="-457200">
              <a:buFont typeface="+mj-lt"/>
              <a:buAutoNum type="arabicPeriod"/>
            </a:pPr>
            <a:r>
              <a:rPr lang="en-US" sz="2000" dirty="0"/>
              <a:t>Classification</a:t>
            </a:r>
          </a:p>
          <a:p>
            <a:pPr marL="457200" indent="-457200">
              <a:buFont typeface="+mj-lt"/>
              <a:buAutoNum type="arabicPeriod"/>
            </a:pPr>
            <a:r>
              <a:rPr lang="en-US" sz="2000" dirty="0"/>
              <a:t>Regression</a:t>
            </a:r>
          </a:p>
          <a:p>
            <a:pPr marL="457200" indent="-457200">
              <a:buFont typeface="+mj-lt"/>
              <a:buAutoNum type="arabicPeriod"/>
            </a:pPr>
            <a:r>
              <a:rPr lang="en-US" sz="2000" dirty="0"/>
              <a:t>Time Series</a:t>
            </a:r>
          </a:p>
          <a:p>
            <a:pPr marL="457200" indent="-457200">
              <a:buFont typeface="+mj-lt"/>
              <a:buAutoNum type="arabicPeriod"/>
            </a:pPr>
            <a:r>
              <a:rPr lang="en-US" sz="2000" dirty="0"/>
              <a:t>Clustering</a:t>
            </a:r>
          </a:p>
          <a:p>
            <a:pPr marL="457200" indent="-457200">
              <a:buFont typeface="+mj-lt"/>
              <a:buAutoNum type="arabicPeriod"/>
            </a:pPr>
            <a:r>
              <a:rPr lang="en-US" sz="2000" dirty="0"/>
              <a:t>Anomaly Detection</a:t>
            </a:r>
          </a:p>
          <a:p>
            <a:pPr marL="0" indent="0">
              <a:buNone/>
            </a:pPr>
            <a:endParaRPr lang="en-US" sz="2000" dirty="0"/>
          </a:p>
          <a:p>
            <a:pPr marL="0" indent="0">
              <a:buNone/>
            </a:pPr>
            <a:endParaRPr lang="en-US" sz="2000" dirty="0"/>
          </a:p>
          <a:p>
            <a:endParaRPr lang="en-US" sz="2000" dirty="0"/>
          </a:p>
        </p:txBody>
      </p:sp>
      <p:pic>
        <p:nvPicPr>
          <p:cNvPr id="4" name="Picture 3" descr="Wavy 3D art">
            <a:extLst>
              <a:ext uri="{FF2B5EF4-FFF2-40B4-BE49-F238E27FC236}">
                <a16:creationId xmlns:a16="http://schemas.microsoft.com/office/drawing/2014/main" id="{D0575EA7-696B-8F5F-6459-B255837C305A}"/>
              </a:ext>
            </a:extLst>
          </p:cNvPr>
          <p:cNvPicPr>
            <a:picLocks noChangeAspect="1"/>
          </p:cNvPicPr>
          <p:nvPr/>
        </p:nvPicPr>
        <p:blipFill>
          <a:blip r:embed="rId2"/>
          <a:srcRect t="14443" r="1" b="15440"/>
          <a:stretch>
            <a:fillRect/>
          </a:stretch>
        </p:blipFill>
        <p:spPr>
          <a:xfrm>
            <a:off x="6560598" y="508090"/>
            <a:ext cx="5122753" cy="5837846"/>
          </a:xfrm>
          <a:prstGeom prst="rect">
            <a:avLst/>
          </a:prstGeom>
        </p:spPr>
      </p:pic>
    </p:spTree>
    <p:extLst>
      <p:ext uri="{BB962C8B-B14F-4D97-AF65-F5344CB8AC3E}">
        <p14:creationId xmlns:p14="http://schemas.microsoft.com/office/powerpoint/2010/main" val="3754412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6A179D-01AC-CACC-B60D-FE903C77EB1B}"/>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F447FC5-81F5-498F-B253-3D2BBDD2E6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AC7FE32F-81F2-B583-C35E-F795CED10CC8}"/>
              </a:ext>
            </a:extLst>
          </p:cNvPr>
          <p:cNvSpPr>
            <a:spLocks noGrp="1"/>
          </p:cNvSpPr>
          <p:nvPr>
            <p:ph type="title"/>
          </p:nvPr>
        </p:nvSpPr>
        <p:spPr>
          <a:xfrm>
            <a:off x="521208" y="978408"/>
            <a:ext cx="5020056" cy="2368296"/>
          </a:xfrm>
        </p:spPr>
        <p:txBody>
          <a:bodyPr>
            <a:normAutofit/>
          </a:bodyPr>
          <a:lstStyle/>
          <a:p>
            <a:r>
              <a:rPr lang="en-US" dirty="0"/>
              <a:t>Classification</a:t>
            </a:r>
          </a:p>
        </p:txBody>
      </p:sp>
      <p:sp>
        <p:nvSpPr>
          <p:cNvPr id="37" name="Rectangle 36">
            <a:extLst>
              <a:ext uri="{FF2B5EF4-FFF2-40B4-BE49-F238E27FC236}">
                <a16:creationId xmlns:a16="http://schemas.microsoft.com/office/drawing/2014/main" id="{A183D605-F0BC-4923-9BAD-8F2204285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avy 3D art">
            <a:extLst>
              <a:ext uri="{FF2B5EF4-FFF2-40B4-BE49-F238E27FC236}">
                <a16:creationId xmlns:a16="http://schemas.microsoft.com/office/drawing/2014/main" id="{83EB33E9-E12C-541D-025C-E25D8287C9C4}"/>
              </a:ext>
            </a:extLst>
          </p:cNvPr>
          <p:cNvPicPr>
            <a:picLocks noChangeAspect="1"/>
          </p:cNvPicPr>
          <p:nvPr/>
        </p:nvPicPr>
        <p:blipFill>
          <a:blip r:embed="rId2"/>
          <a:srcRect t="14443" r="1" b="15440"/>
          <a:stretch>
            <a:fillRect/>
          </a:stretch>
        </p:blipFill>
        <p:spPr>
          <a:xfrm>
            <a:off x="6662166" y="544854"/>
            <a:ext cx="5011957" cy="2723559"/>
          </a:xfrm>
          <a:prstGeom prst="rect">
            <a:avLst/>
          </a:prstGeom>
        </p:spPr>
      </p:pic>
      <p:pic>
        <p:nvPicPr>
          <p:cNvPr id="3" name="Picture 2">
            <a:extLst>
              <a:ext uri="{FF2B5EF4-FFF2-40B4-BE49-F238E27FC236}">
                <a16:creationId xmlns:a16="http://schemas.microsoft.com/office/drawing/2014/main" id="{14754FF6-3461-8721-89DC-4B41D45C96C4}"/>
              </a:ext>
            </a:extLst>
          </p:cNvPr>
          <p:cNvPicPr>
            <a:picLocks noChangeAspect="1"/>
          </p:cNvPicPr>
          <p:nvPr/>
        </p:nvPicPr>
        <p:blipFill>
          <a:blip r:embed="rId3"/>
          <a:srcRect r="1998" b="5"/>
          <a:stretch>
            <a:fillRect/>
          </a:stretch>
        </p:blipFill>
        <p:spPr>
          <a:xfrm>
            <a:off x="542544" y="2333846"/>
            <a:ext cx="5011957" cy="3315116"/>
          </a:xfrm>
          <a:prstGeom prst="rect">
            <a:avLst/>
          </a:prstGeom>
        </p:spPr>
      </p:pic>
      <p:sp>
        <p:nvSpPr>
          <p:cNvPr id="39" name="Rectangle 38">
            <a:extLst>
              <a:ext uri="{FF2B5EF4-FFF2-40B4-BE49-F238E27FC236}">
                <a16:creationId xmlns:a16="http://schemas.microsoft.com/office/drawing/2014/main" id="{C1A59FC6-29E7-4618-829A-36CC011E5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3616882"/>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AAEC9151-DF56-9C27-0A21-074525A0F4B0}"/>
              </a:ext>
            </a:extLst>
          </p:cNvPr>
          <p:cNvSpPr>
            <a:spLocks noGrp="1"/>
          </p:cNvSpPr>
          <p:nvPr>
            <p:ph idx="1"/>
          </p:nvPr>
        </p:nvSpPr>
        <p:spPr>
          <a:xfrm>
            <a:off x="6665976" y="3776472"/>
            <a:ext cx="4983480" cy="2569464"/>
          </a:xfrm>
        </p:spPr>
        <p:txBody>
          <a:bodyPr>
            <a:normAutofit/>
          </a:bodyPr>
          <a:lstStyle/>
          <a:p>
            <a:pPr>
              <a:lnSpc>
                <a:spcPct val="100000"/>
              </a:lnSpc>
            </a:pPr>
            <a:r>
              <a:rPr lang="en-US" sz="1700"/>
              <a:t>PyCaret’s Classification Module is a supervised machine learning module that is used for classifying elements into groups. </a:t>
            </a:r>
          </a:p>
          <a:p>
            <a:pPr>
              <a:lnSpc>
                <a:spcPct val="100000"/>
              </a:lnSpc>
            </a:pPr>
            <a:r>
              <a:rPr lang="en-US" sz="1700"/>
              <a:t>The goal is to predict the categorical class labels which are discrete and unordered. Some common use cases include predicting customer default (Yes or No), predicting customer churn (customer will leave or stay), the disease found (positive or negative). </a:t>
            </a:r>
          </a:p>
        </p:txBody>
      </p:sp>
    </p:spTree>
    <p:extLst>
      <p:ext uri="{BB962C8B-B14F-4D97-AF65-F5344CB8AC3E}">
        <p14:creationId xmlns:p14="http://schemas.microsoft.com/office/powerpoint/2010/main" val="314434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9EC999-24EA-5961-96C1-F2E3C64EA13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F447FC5-81F5-498F-B253-3D2BBDD2E6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3179020D-3613-658C-67E2-9406F184AA24}"/>
              </a:ext>
            </a:extLst>
          </p:cNvPr>
          <p:cNvSpPr>
            <a:spLocks noGrp="1"/>
          </p:cNvSpPr>
          <p:nvPr>
            <p:ph type="title"/>
          </p:nvPr>
        </p:nvSpPr>
        <p:spPr>
          <a:xfrm>
            <a:off x="521208" y="978408"/>
            <a:ext cx="5020056" cy="2368296"/>
          </a:xfrm>
        </p:spPr>
        <p:txBody>
          <a:bodyPr>
            <a:normAutofit/>
          </a:bodyPr>
          <a:lstStyle/>
          <a:p>
            <a:r>
              <a:rPr lang="en-US" dirty="0"/>
              <a:t>Regression</a:t>
            </a:r>
          </a:p>
        </p:txBody>
      </p:sp>
      <p:sp>
        <p:nvSpPr>
          <p:cNvPr id="15" name="Rectangle 14">
            <a:extLst>
              <a:ext uri="{FF2B5EF4-FFF2-40B4-BE49-F238E27FC236}">
                <a16:creationId xmlns:a16="http://schemas.microsoft.com/office/drawing/2014/main" id="{A183D605-F0BC-4923-9BAD-8F2204285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avy 3D art">
            <a:extLst>
              <a:ext uri="{FF2B5EF4-FFF2-40B4-BE49-F238E27FC236}">
                <a16:creationId xmlns:a16="http://schemas.microsoft.com/office/drawing/2014/main" id="{6D18141A-1FE4-97FA-0430-AED7F384119F}"/>
              </a:ext>
            </a:extLst>
          </p:cNvPr>
          <p:cNvPicPr>
            <a:picLocks noChangeAspect="1"/>
          </p:cNvPicPr>
          <p:nvPr/>
        </p:nvPicPr>
        <p:blipFill>
          <a:blip r:embed="rId2"/>
          <a:srcRect t="14443" r="1" b="15440"/>
          <a:stretch>
            <a:fillRect/>
          </a:stretch>
        </p:blipFill>
        <p:spPr>
          <a:xfrm>
            <a:off x="6662166" y="544854"/>
            <a:ext cx="5011957" cy="2723559"/>
          </a:xfrm>
          <a:prstGeom prst="rect">
            <a:avLst/>
          </a:prstGeom>
        </p:spPr>
      </p:pic>
      <p:pic>
        <p:nvPicPr>
          <p:cNvPr id="3" name="Picture 2">
            <a:extLst>
              <a:ext uri="{FF2B5EF4-FFF2-40B4-BE49-F238E27FC236}">
                <a16:creationId xmlns:a16="http://schemas.microsoft.com/office/drawing/2014/main" id="{401BD42A-159E-2D85-E223-61A4DF0792DF}"/>
              </a:ext>
            </a:extLst>
          </p:cNvPr>
          <p:cNvPicPr>
            <a:picLocks noChangeAspect="1"/>
          </p:cNvPicPr>
          <p:nvPr/>
        </p:nvPicPr>
        <p:blipFill>
          <a:blip r:embed="rId3"/>
          <a:stretch>
            <a:fillRect/>
          </a:stretch>
        </p:blipFill>
        <p:spPr>
          <a:xfrm>
            <a:off x="517870" y="2341879"/>
            <a:ext cx="5011957" cy="3664792"/>
          </a:xfrm>
          <a:prstGeom prst="rect">
            <a:avLst/>
          </a:prstGeom>
        </p:spPr>
      </p:pic>
      <p:sp>
        <p:nvSpPr>
          <p:cNvPr id="17" name="Rectangle 16">
            <a:extLst>
              <a:ext uri="{FF2B5EF4-FFF2-40B4-BE49-F238E27FC236}">
                <a16:creationId xmlns:a16="http://schemas.microsoft.com/office/drawing/2014/main" id="{C1A59FC6-29E7-4618-829A-36CC011E5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3616882"/>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E08D764A-1708-DBD5-FADD-0FAB9E002295}"/>
              </a:ext>
            </a:extLst>
          </p:cNvPr>
          <p:cNvSpPr>
            <a:spLocks noGrp="1"/>
          </p:cNvSpPr>
          <p:nvPr>
            <p:ph idx="1"/>
          </p:nvPr>
        </p:nvSpPr>
        <p:spPr>
          <a:xfrm>
            <a:off x="6665976" y="3776472"/>
            <a:ext cx="4983480" cy="2569464"/>
          </a:xfrm>
        </p:spPr>
        <p:txBody>
          <a:bodyPr>
            <a:normAutofit/>
          </a:bodyPr>
          <a:lstStyle/>
          <a:p>
            <a:pPr>
              <a:lnSpc>
                <a:spcPct val="100000"/>
              </a:lnSpc>
            </a:pPr>
            <a:r>
              <a:rPr lang="en-US" sz="1500" dirty="0" err="1"/>
              <a:t>PyCaret’s</a:t>
            </a:r>
            <a:r>
              <a:rPr lang="en-US" sz="1500" dirty="0"/>
              <a:t> Regression Module is a supervised machine learning module that is used for estimating the relationships between a dependent variable (often called the ‘outcome variable’, or ‘target’) and one or more independent variables (often called ‘features’, ‘predictors’, or ‘covariates’). </a:t>
            </a:r>
          </a:p>
          <a:p>
            <a:pPr>
              <a:lnSpc>
                <a:spcPct val="100000"/>
              </a:lnSpc>
            </a:pPr>
            <a:r>
              <a:rPr lang="en-US" sz="1500" dirty="0"/>
              <a:t>The objective of regression is to predict continuous values such as predicting sales amount, predicting quantity, predicting temperature, etc. </a:t>
            </a:r>
          </a:p>
        </p:txBody>
      </p:sp>
    </p:spTree>
    <p:extLst>
      <p:ext uri="{BB962C8B-B14F-4D97-AF65-F5344CB8AC3E}">
        <p14:creationId xmlns:p14="http://schemas.microsoft.com/office/powerpoint/2010/main" val="2564924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463CCF-5DAD-2077-A853-48252B76C2A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F447FC5-81F5-498F-B253-3D2BBDD2E6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C7C2DF0D-B44B-4979-5566-DE26AB8C8D33}"/>
              </a:ext>
            </a:extLst>
          </p:cNvPr>
          <p:cNvSpPr>
            <a:spLocks noGrp="1"/>
          </p:cNvSpPr>
          <p:nvPr>
            <p:ph type="title"/>
          </p:nvPr>
        </p:nvSpPr>
        <p:spPr>
          <a:xfrm>
            <a:off x="521208" y="978408"/>
            <a:ext cx="5020056" cy="2368296"/>
          </a:xfrm>
        </p:spPr>
        <p:txBody>
          <a:bodyPr>
            <a:normAutofit/>
          </a:bodyPr>
          <a:lstStyle/>
          <a:p>
            <a:r>
              <a:rPr lang="en-US" dirty="0"/>
              <a:t>Time Series</a:t>
            </a:r>
          </a:p>
        </p:txBody>
      </p:sp>
      <p:sp>
        <p:nvSpPr>
          <p:cNvPr id="15" name="Rectangle 14">
            <a:extLst>
              <a:ext uri="{FF2B5EF4-FFF2-40B4-BE49-F238E27FC236}">
                <a16:creationId xmlns:a16="http://schemas.microsoft.com/office/drawing/2014/main" id="{A183D605-F0BC-4923-9BAD-8F2204285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avy 3D art">
            <a:extLst>
              <a:ext uri="{FF2B5EF4-FFF2-40B4-BE49-F238E27FC236}">
                <a16:creationId xmlns:a16="http://schemas.microsoft.com/office/drawing/2014/main" id="{1D269E8E-D8F0-F4B9-5D21-02BCB967DBA1}"/>
              </a:ext>
            </a:extLst>
          </p:cNvPr>
          <p:cNvPicPr>
            <a:picLocks noChangeAspect="1"/>
          </p:cNvPicPr>
          <p:nvPr/>
        </p:nvPicPr>
        <p:blipFill>
          <a:blip r:embed="rId2"/>
          <a:srcRect t="14443" r="1" b="15440"/>
          <a:stretch>
            <a:fillRect/>
          </a:stretch>
        </p:blipFill>
        <p:spPr>
          <a:xfrm>
            <a:off x="6662166" y="544854"/>
            <a:ext cx="5011957" cy="2723559"/>
          </a:xfrm>
          <a:prstGeom prst="rect">
            <a:avLst/>
          </a:prstGeom>
        </p:spPr>
      </p:pic>
      <p:pic>
        <p:nvPicPr>
          <p:cNvPr id="3" name="Picture 2">
            <a:extLst>
              <a:ext uri="{FF2B5EF4-FFF2-40B4-BE49-F238E27FC236}">
                <a16:creationId xmlns:a16="http://schemas.microsoft.com/office/drawing/2014/main" id="{67F63667-B292-A5F5-D473-6E0041EB88C7}"/>
              </a:ext>
            </a:extLst>
          </p:cNvPr>
          <p:cNvPicPr>
            <a:picLocks noChangeAspect="1"/>
          </p:cNvPicPr>
          <p:nvPr/>
        </p:nvPicPr>
        <p:blipFill>
          <a:blip r:embed="rId3"/>
          <a:stretch>
            <a:fillRect/>
          </a:stretch>
        </p:blipFill>
        <p:spPr>
          <a:xfrm>
            <a:off x="517869" y="1991360"/>
            <a:ext cx="6154975" cy="4354645"/>
          </a:xfrm>
          <a:prstGeom prst="rect">
            <a:avLst/>
          </a:prstGeom>
        </p:spPr>
      </p:pic>
      <p:sp>
        <p:nvSpPr>
          <p:cNvPr id="17" name="Rectangle 16">
            <a:extLst>
              <a:ext uri="{FF2B5EF4-FFF2-40B4-BE49-F238E27FC236}">
                <a16:creationId xmlns:a16="http://schemas.microsoft.com/office/drawing/2014/main" id="{C1A59FC6-29E7-4618-829A-36CC011E5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3616882"/>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9DB09550-21F3-27EB-9439-A838556FAC9E}"/>
              </a:ext>
            </a:extLst>
          </p:cNvPr>
          <p:cNvSpPr>
            <a:spLocks noGrp="1"/>
          </p:cNvSpPr>
          <p:nvPr>
            <p:ph idx="1"/>
          </p:nvPr>
        </p:nvSpPr>
        <p:spPr>
          <a:xfrm>
            <a:off x="6665976" y="3776472"/>
            <a:ext cx="4983480" cy="2569464"/>
          </a:xfrm>
        </p:spPr>
        <p:txBody>
          <a:bodyPr>
            <a:normAutofit/>
          </a:bodyPr>
          <a:lstStyle/>
          <a:p>
            <a:pPr>
              <a:lnSpc>
                <a:spcPct val="100000"/>
              </a:lnSpc>
            </a:pPr>
            <a:r>
              <a:rPr lang="en-US" sz="1400" err="1"/>
              <a:t>PyCaret</a:t>
            </a:r>
            <a:r>
              <a:rPr lang="en-US" sz="1400"/>
              <a:t> Time Series module is a powerful tool for analyzing and predicting time series data using machine learning and classical statistical techniques. This module enables users to easily perform complex time series forecasting tasks by automating the entire process from data preparation to model deployment. </a:t>
            </a:r>
          </a:p>
          <a:p>
            <a:pPr>
              <a:lnSpc>
                <a:spcPct val="100000"/>
              </a:lnSpc>
            </a:pPr>
            <a:r>
              <a:rPr lang="en-US" sz="1400" err="1"/>
              <a:t>PyCaret</a:t>
            </a:r>
            <a:r>
              <a:rPr lang="en-US" sz="1400"/>
              <a:t> Time Series Forecasting module supports a wide range of forecasting methods such as ARIMA, Prophet, and LSTM. It also provides various features to handle missing values, time series decomposition, and data visualizations. </a:t>
            </a:r>
          </a:p>
        </p:txBody>
      </p:sp>
    </p:spTree>
    <p:extLst>
      <p:ext uri="{BB962C8B-B14F-4D97-AF65-F5344CB8AC3E}">
        <p14:creationId xmlns:p14="http://schemas.microsoft.com/office/powerpoint/2010/main" val="3455535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7A2EB4-3D1B-BCAC-1688-E11934E8C171}"/>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F447FC5-81F5-498F-B253-3D2BBDD2E6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CC2CECAE-1810-ACA6-2034-C2EA934625C5}"/>
              </a:ext>
            </a:extLst>
          </p:cNvPr>
          <p:cNvSpPr>
            <a:spLocks noGrp="1"/>
          </p:cNvSpPr>
          <p:nvPr>
            <p:ph type="title"/>
          </p:nvPr>
        </p:nvSpPr>
        <p:spPr>
          <a:xfrm>
            <a:off x="521208" y="978408"/>
            <a:ext cx="5020056" cy="2368296"/>
          </a:xfrm>
        </p:spPr>
        <p:txBody>
          <a:bodyPr>
            <a:normAutofit/>
          </a:bodyPr>
          <a:lstStyle/>
          <a:p>
            <a:r>
              <a:rPr lang="en-US" dirty="0"/>
              <a:t>Clustering</a:t>
            </a:r>
          </a:p>
        </p:txBody>
      </p:sp>
      <p:sp>
        <p:nvSpPr>
          <p:cNvPr id="15" name="Rectangle 14">
            <a:extLst>
              <a:ext uri="{FF2B5EF4-FFF2-40B4-BE49-F238E27FC236}">
                <a16:creationId xmlns:a16="http://schemas.microsoft.com/office/drawing/2014/main" id="{A183D605-F0BC-4923-9BAD-8F2204285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avy 3D art">
            <a:extLst>
              <a:ext uri="{FF2B5EF4-FFF2-40B4-BE49-F238E27FC236}">
                <a16:creationId xmlns:a16="http://schemas.microsoft.com/office/drawing/2014/main" id="{663A4013-1B26-1CD2-28EA-1DAC14649B09}"/>
              </a:ext>
            </a:extLst>
          </p:cNvPr>
          <p:cNvPicPr>
            <a:picLocks noChangeAspect="1"/>
          </p:cNvPicPr>
          <p:nvPr/>
        </p:nvPicPr>
        <p:blipFill>
          <a:blip r:embed="rId2"/>
          <a:srcRect t="14443" r="1" b="15440"/>
          <a:stretch>
            <a:fillRect/>
          </a:stretch>
        </p:blipFill>
        <p:spPr>
          <a:xfrm>
            <a:off x="6662166" y="544854"/>
            <a:ext cx="5011957" cy="2723559"/>
          </a:xfrm>
          <a:prstGeom prst="rect">
            <a:avLst/>
          </a:prstGeom>
        </p:spPr>
      </p:pic>
      <p:pic>
        <p:nvPicPr>
          <p:cNvPr id="3" name="Picture 2">
            <a:extLst>
              <a:ext uri="{FF2B5EF4-FFF2-40B4-BE49-F238E27FC236}">
                <a16:creationId xmlns:a16="http://schemas.microsoft.com/office/drawing/2014/main" id="{5CCC5D4D-2FD2-D22A-BE9F-93D088B997FD}"/>
              </a:ext>
            </a:extLst>
          </p:cNvPr>
          <p:cNvPicPr>
            <a:picLocks noChangeAspect="1"/>
          </p:cNvPicPr>
          <p:nvPr/>
        </p:nvPicPr>
        <p:blipFill>
          <a:blip r:embed="rId3"/>
          <a:stretch>
            <a:fillRect/>
          </a:stretch>
        </p:blipFill>
        <p:spPr>
          <a:xfrm>
            <a:off x="517869" y="1884679"/>
            <a:ext cx="5020055" cy="4461326"/>
          </a:xfrm>
          <a:prstGeom prst="rect">
            <a:avLst/>
          </a:prstGeom>
        </p:spPr>
      </p:pic>
      <p:sp>
        <p:nvSpPr>
          <p:cNvPr id="17" name="Rectangle 16">
            <a:extLst>
              <a:ext uri="{FF2B5EF4-FFF2-40B4-BE49-F238E27FC236}">
                <a16:creationId xmlns:a16="http://schemas.microsoft.com/office/drawing/2014/main" id="{C1A59FC6-29E7-4618-829A-36CC011E5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3616882"/>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B8EED429-76E5-882F-3D2F-AF5B03C60DB2}"/>
              </a:ext>
            </a:extLst>
          </p:cNvPr>
          <p:cNvSpPr>
            <a:spLocks noGrp="1"/>
          </p:cNvSpPr>
          <p:nvPr>
            <p:ph idx="1"/>
          </p:nvPr>
        </p:nvSpPr>
        <p:spPr>
          <a:xfrm>
            <a:off x="6665976" y="3776472"/>
            <a:ext cx="4983480" cy="2569464"/>
          </a:xfrm>
        </p:spPr>
        <p:txBody>
          <a:bodyPr>
            <a:normAutofit/>
          </a:bodyPr>
          <a:lstStyle/>
          <a:p>
            <a:pPr marL="0" indent="0">
              <a:buNone/>
            </a:pPr>
            <a:r>
              <a:rPr lang="en-US" dirty="0" err="1"/>
              <a:t>PyCaret’s</a:t>
            </a:r>
            <a:r>
              <a:rPr lang="en-US" dirty="0"/>
              <a:t> Clustering Module is an unsupervised machine learning module that performs the task of grouping a set of objects in such a way that objects in the same group (also known as a cluster) are more similar to each other than to those in other groups.</a:t>
            </a:r>
            <a:endParaRPr lang="en-US"/>
          </a:p>
        </p:txBody>
      </p:sp>
    </p:spTree>
    <p:extLst>
      <p:ext uri="{BB962C8B-B14F-4D97-AF65-F5344CB8AC3E}">
        <p14:creationId xmlns:p14="http://schemas.microsoft.com/office/powerpoint/2010/main" val="2986762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E30866-35C1-FC3D-1CF7-B18E62601E34}"/>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F447FC5-81F5-498F-B253-3D2BBDD2E6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1734C79-5EA8-8703-5685-CBC3FB7C2FAA}"/>
              </a:ext>
            </a:extLst>
          </p:cNvPr>
          <p:cNvSpPr>
            <a:spLocks noGrp="1"/>
          </p:cNvSpPr>
          <p:nvPr>
            <p:ph type="title"/>
          </p:nvPr>
        </p:nvSpPr>
        <p:spPr>
          <a:xfrm>
            <a:off x="521208" y="978408"/>
            <a:ext cx="5029200" cy="2377440"/>
          </a:xfrm>
        </p:spPr>
        <p:txBody>
          <a:bodyPr>
            <a:normAutofit/>
          </a:bodyPr>
          <a:lstStyle/>
          <a:p>
            <a:r>
              <a:rPr lang="en-US" sz="4000" dirty="0"/>
              <a:t>Anomaly Detection</a:t>
            </a:r>
          </a:p>
        </p:txBody>
      </p:sp>
      <p:sp>
        <p:nvSpPr>
          <p:cNvPr id="20" name="Rectangle 19">
            <a:extLst>
              <a:ext uri="{FF2B5EF4-FFF2-40B4-BE49-F238E27FC236}">
                <a16:creationId xmlns:a16="http://schemas.microsoft.com/office/drawing/2014/main" id="{A183D605-F0BC-4923-9BAD-8F2204285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avy 3D art">
            <a:extLst>
              <a:ext uri="{FF2B5EF4-FFF2-40B4-BE49-F238E27FC236}">
                <a16:creationId xmlns:a16="http://schemas.microsoft.com/office/drawing/2014/main" id="{91A7247C-7DFE-543B-FEB0-9E8CEEE9EF50}"/>
              </a:ext>
            </a:extLst>
          </p:cNvPr>
          <p:cNvPicPr>
            <a:picLocks noChangeAspect="1"/>
          </p:cNvPicPr>
          <p:nvPr/>
        </p:nvPicPr>
        <p:blipFill>
          <a:blip r:embed="rId2"/>
          <a:srcRect t="13497" r="1" b="14493"/>
          <a:stretch>
            <a:fillRect/>
          </a:stretch>
        </p:blipFill>
        <p:spPr>
          <a:xfrm>
            <a:off x="6662166" y="508090"/>
            <a:ext cx="5011957" cy="2797087"/>
          </a:xfrm>
          <a:prstGeom prst="rect">
            <a:avLst/>
          </a:prstGeom>
        </p:spPr>
      </p:pic>
      <p:sp>
        <p:nvSpPr>
          <p:cNvPr id="21" name="Rectangle 20">
            <a:extLst>
              <a:ext uri="{FF2B5EF4-FFF2-40B4-BE49-F238E27FC236}">
                <a16:creationId xmlns:a16="http://schemas.microsoft.com/office/drawing/2014/main" id="{C1A59FC6-29E7-4618-829A-36CC011E5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3616882"/>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BAAA78E-3234-6970-A75E-A58080DE076C}"/>
              </a:ext>
            </a:extLst>
          </p:cNvPr>
          <p:cNvPicPr>
            <a:picLocks noChangeAspect="1"/>
          </p:cNvPicPr>
          <p:nvPr/>
        </p:nvPicPr>
        <p:blipFill>
          <a:blip r:embed="rId3"/>
          <a:srcRect t="715" r="1" b="16996"/>
          <a:stretch>
            <a:fillRect/>
          </a:stretch>
        </p:blipFill>
        <p:spPr>
          <a:xfrm>
            <a:off x="513802" y="1849121"/>
            <a:ext cx="5011957" cy="4496884"/>
          </a:xfrm>
          <a:prstGeom prst="rect">
            <a:avLst/>
          </a:prstGeom>
        </p:spPr>
      </p:pic>
      <p:sp>
        <p:nvSpPr>
          <p:cNvPr id="8" name="Content Placeholder 7">
            <a:extLst>
              <a:ext uri="{FF2B5EF4-FFF2-40B4-BE49-F238E27FC236}">
                <a16:creationId xmlns:a16="http://schemas.microsoft.com/office/drawing/2014/main" id="{61BAAB03-4BFB-93A3-FE68-B491F0D94F4D}"/>
              </a:ext>
            </a:extLst>
          </p:cNvPr>
          <p:cNvSpPr>
            <a:spLocks noGrp="1"/>
          </p:cNvSpPr>
          <p:nvPr>
            <p:ph idx="1"/>
          </p:nvPr>
        </p:nvSpPr>
        <p:spPr>
          <a:xfrm>
            <a:off x="6665976" y="3776472"/>
            <a:ext cx="5010912" cy="2569464"/>
          </a:xfrm>
        </p:spPr>
        <p:txBody>
          <a:bodyPr>
            <a:normAutofit/>
          </a:bodyPr>
          <a:lstStyle/>
          <a:p>
            <a:r>
              <a:rPr lang="en-US" sz="1700" err="1"/>
              <a:t>PyCaret’s</a:t>
            </a:r>
            <a:r>
              <a:rPr lang="en-US" sz="1700"/>
              <a:t> Anomaly Detection Module is an unsupervised machine learning module that is used for identifying rare items, events, or observations that raise suspicions by differing significantly from the majority of the data. </a:t>
            </a:r>
          </a:p>
          <a:p>
            <a:r>
              <a:rPr lang="en-US" sz="1700"/>
              <a:t>Typically, the anomalous items will translate to some kind of problems such as bank fraud, a structural defect, medical problems, or errors. </a:t>
            </a:r>
          </a:p>
        </p:txBody>
      </p:sp>
    </p:spTree>
    <p:extLst>
      <p:ext uri="{BB962C8B-B14F-4D97-AF65-F5344CB8AC3E}">
        <p14:creationId xmlns:p14="http://schemas.microsoft.com/office/powerpoint/2010/main" val="1518876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A379CA-4A1D-FFF7-3CAD-D80500B24FA5}"/>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7" name="Title 6">
            <a:extLst>
              <a:ext uri="{FF2B5EF4-FFF2-40B4-BE49-F238E27FC236}">
                <a16:creationId xmlns:a16="http://schemas.microsoft.com/office/drawing/2014/main" id="{7338786B-C054-8BE8-5CBD-9D851710A263}"/>
              </a:ext>
            </a:extLst>
          </p:cNvPr>
          <p:cNvSpPr>
            <a:spLocks noGrp="1"/>
          </p:cNvSpPr>
          <p:nvPr>
            <p:ph type="title"/>
          </p:nvPr>
        </p:nvSpPr>
        <p:spPr>
          <a:xfrm>
            <a:off x="521208" y="978408"/>
            <a:ext cx="4754880" cy="1463040"/>
          </a:xfrm>
        </p:spPr>
        <p:txBody>
          <a:bodyPr>
            <a:normAutofit/>
          </a:bodyPr>
          <a:lstStyle/>
          <a:p>
            <a:r>
              <a:rPr lang="en-US"/>
              <a:t>Summary</a:t>
            </a:r>
            <a:endParaRPr lang="en-US" dirty="0"/>
          </a:p>
        </p:txBody>
      </p:sp>
      <p:sp>
        <p:nvSpPr>
          <p:cNvPr id="43" name="Rectangle 42">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8" name="Content Placeholder 7">
            <a:extLst>
              <a:ext uri="{FF2B5EF4-FFF2-40B4-BE49-F238E27FC236}">
                <a16:creationId xmlns:a16="http://schemas.microsoft.com/office/drawing/2014/main" id="{F37F6A05-E02C-34CC-7FF3-F0A4C94439FA}"/>
              </a:ext>
            </a:extLst>
          </p:cNvPr>
          <p:cNvSpPr>
            <a:spLocks noGrp="1"/>
          </p:cNvSpPr>
          <p:nvPr>
            <p:ph idx="1"/>
          </p:nvPr>
        </p:nvSpPr>
        <p:spPr>
          <a:xfrm>
            <a:off x="521208" y="2578608"/>
            <a:ext cx="4672584" cy="3767328"/>
          </a:xfrm>
        </p:spPr>
        <p:txBody>
          <a:bodyPr>
            <a:normAutofit/>
          </a:bodyPr>
          <a:lstStyle/>
          <a:p>
            <a:pPr marL="0" indent="0">
              <a:buNone/>
            </a:pPr>
            <a:r>
              <a:rPr lang="en-US" b="1"/>
              <a:t>Speed, Depth, and Consistency</a:t>
            </a:r>
          </a:p>
          <a:p>
            <a:pPr marL="0" indent="0">
              <a:buNone/>
            </a:pPr>
            <a:endParaRPr lang="en-US" b="1"/>
          </a:p>
          <a:p>
            <a:r>
              <a:rPr lang="en-US" b="1"/>
              <a:t>PyCaret</a:t>
            </a:r>
            <a:r>
              <a:rPr lang="en-US"/>
              <a:t> streamlines the ML lifecycle, making advanced techniques accessible and consistent.</a:t>
            </a:r>
          </a:p>
          <a:p>
            <a:endParaRPr lang="en-US"/>
          </a:p>
          <a:p>
            <a:r>
              <a:rPr lang="en-US"/>
              <a:t>It allows data scientists to </a:t>
            </a:r>
            <a:r>
              <a:rPr lang="en-US" b="1"/>
              <a:t>prototype faster</a:t>
            </a:r>
            <a:r>
              <a:rPr lang="en-US"/>
              <a:t> and move models to </a:t>
            </a:r>
            <a:r>
              <a:rPr lang="en-US" b="1"/>
              <a:t>production quicker</a:t>
            </a:r>
            <a:r>
              <a:rPr lang="en-US"/>
              <a:t>.</a:t>
            </a:r>
            <a:endParaRPr lang="en-US" dirty="0"/>
          </a:p>
        </p:txBody>
      </p:sp>
      <p:pic>
        <p:nvPicPr>
          <p:cNvPr id="4" name="Picture 3" descr="Wavy 3D art">
            <a:extLst>
              <a:ext uri="{FF2B5EF4-FFF2-40B4-BE49-F238E27FC236}">
                <a16:creationId xmlns:a16="http://schemas.microsoft.com/office/drawing/2014/main" id="{954717DD-3928-C82C-7326-31C78A9D56F9}"/>
              </a:ext>
            </a:extLst>
          </p:cNvPr>
          <p:cNvPicPr>
            <a:picLocks noChangeAspect="1"/>
          </p:cNvPicPr>
          <p:nvPr/>
        </p:nvPicPr>
        <p:blipFill>
          <a:blip r:embed="rId3"/>
          <a:srcRect l="12162" r="12157"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251430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39E86F-CC29-75A2-3543-7A2FA92C4FDC}"/>
            </a:ext>
          </a:extLst>
        </p:cNvPr>
        <p:cNvGrpSpPr/>
        <p:nvPr/>
      </p:nvGrpSpPr>
      <p:grpSpPr>
        <a:xfrm>
          <a:off x="0" y="0"/>
          <a:ext cx="0" cy="0"/>
          <a:chOff x="0" y="0"/>
          <a:chExt cx="0" cy="0"/>
        </a:xfrm>
      </p:grpSpPr>
      <p:sp>
        <p:nvSpPr>
          <p:cNvPr id="12" name="Freeform: Shape 1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Rectangle 15">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Wavy 3D art">
            <a:extLst>
              <a:ext uri="{FF2B5EF4-FFF2-40B4-BE49-F238E27FC236}">
                <a16:creationId xmlns:a16="http://schemas.microsoft.com/office/drawing/2014/main" id="{90C3FAFA-E7BD-695C-EFA3-5BB9F334CF50}"/>
              </a:ext>
            </a:extLst>
          </p:cNvPr>
          <p:cNvPicPr>
            <a:picLocks noChangeAspect="1"/>
          </p:cNvPicPr>
          <p:nvPr/>
        </p:nvPicPr>
        <p:blipFill>
          <a:blip r:embed="rId3"/>
          <a:srcRect t="13203" r="-1" b="14197"/>
          <a:stretch>
            <a:fillRect/>
          </a:stretch>
        </p:blipFill>
        <p:spPr>
          <a:xfrm>
            <a:off x="20" y="10"/>
            <a:ext cx="12188932" cy="6857990"/>
          </a:xfrm>
          <a:prstGeom prst="rect">
            <a:avLst/>
          </a:prstGeom>
        </p:spPr>
      </p:pic>
      <p:sp>
        <p:nvSpPr>
          <p:cNvPr id="18" name="Rectangle 17">
            <a:extLst>
              <a:ext uri="{FF2B5EF4-FFF2-40B4-BE49-F238E27FC236}">
                <a16:creationId xmlns:a16="http://schemas.microsoft.com/office/drawing/2014/main" id="{637992A9-1E8C-4E57-B4F4-EE2D38E50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649AD261-8B87-7639-6928-C35DB368B801}"/>
              </a:ext>
            </a:extLst>
          </p:cNvPr>
          <p:cNvSpPr>
            <a:spLocks noGrp="1"/>
          </p:cNvSpPr>
          <p:nvPr>
            <p:ph type="title"/>
          </p:nvPr>
        </p:nvSpPr>
        <p:spPr>
          <a:xfrm>
            <a:off x="517870" y="978407"/>
            <a:ext cx="5021182" cy="3309511"/>
          </a:xfrm>
        </p:spPr>
        <p:txBody>
          <a:bodyPr vert="horz" lIns="91440" tIns="45720" rIns="91440" bIns="45720" rtlCol="0" anchor="t">
            <a:normAutofit/>
          </a:bodyPr>
          <a:lstStyle/>
          <a:p>
            <a:r>
              <a:rPr lang="en-US" sz="6000">
                <a:solidFill>
                  <a:srgbClr val="FFFFFF"/>
                </a:solidFill>
              </a:rPr>
              <a:t>Thank You</a:t>
            </a:r>
          </a:p>
        </p:txBody>
      </p:sp>
      <p:sp>
        <p:nvSpPr>
          <p:cNvPr id="20" name="Rectangle 1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97014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762</Words>
  <Application>Microsoft Office PowerPoint</Application>
  <PresentationFormat>Widescreen</PresentationFormat>
  <Paragraphs>73</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Bierstadt</vt:lpstr>
      <vt:lpstr>Neue Haas Grotesk Text Pro</vt:lpstr>
      <vt:lpstr>GestaltVTI</vt:lpstr>
      <vt:lpstr>PyCaret: Automation for the Data Scientist </vt:lpstr>
      <vt:lpstr>What is PyCaret? (The Library)</vt:lpstr>
      <vt:lpstr>Why Use PyCaret?</vt:lpstr>
      <vt:lpstr>Why Low-Code is Essential in Business</vt:lpstr>
      <vt:lpstr>Modules and The Core Workflow</vt:lpstr>
      <vt:lpstr>Datasets</vt:lpstr>
      <vt:lpstr>Live Demo</vt:lpstr>
      <vt:lpstr>Classification</vt:lpstr>
      <vt:lpstr>Regression</vt:lpstr>
      <vt:lpstr>Time Series</vt:lpstr>
      <vt:lpstr>Clustering</vt:lpstr>
      <vt:lpstr>Anomaly Detection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 Kulkarni</dc:creator>
  <cp:lastModifiedBy>Tejas Kulkarni</cp:lastModifiedBy>
  <cp:revision>2</cp:revision>
  <dcterms:created xsi:type="dcterms:W3CDTF">2025-11-02T23:45:08Z</dcterms:created>
  <dcterms:modified xsi:type="dcterms:W3CDTF">2025-11-03T01:21:54Z</dcterms:modified>
</cp:coreProperties>
</file>